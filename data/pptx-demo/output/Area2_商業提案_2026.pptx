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23B"/>
          </a:solidFill>
          <a:ln w="12700">
            <a:solidFill>
              <a:srgbClr val="2222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4A4E69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731520"/>
            <a:ext cx="2286000" cy="2286000"/>
          </a:xfrm>
          <a:prstGeom prst="ellipse">
            <a:avLst/>
          </a:prstGeom>
          <a:solidFill>
            <a:srgbClr val="9A8C98">
              <a:alpha val="60000"/>
            </a:srgbClr>
          </a:solidFill>
          <a:ln w="12700">
            <a:solidFill>
              <a:srgbClr val="9A8C98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840480"/>
            <a:ext cx="1645920" cy="1645920"/>
          </a:xfrm>
          <a:prstGeom prst="ellipse">
            <a:avLst/>
          </a:prstGeom>
          <a:solidFill>
            <a:srgbClr val="C9ADA7">
              <a:alpha val="50000"/>
            </a:srgbClr>
          </a:solidFill>
          <a:ln w="12700">
            <a:solidFill>
              <a:srgbClr val="C9ADA7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45920"/>
            <a:ext cx="73152" cy="2286000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AREA2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數碼營銷合作方案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3429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2026年4月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137160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DRIVEN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9E4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22223B"/>
          </a:solidFill>
          <a:ln w="12700">
            <a:solidFill>
              <a:srgbClr val="2222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0"/>
            <a:ext cx="2011680" cy="2011680"/>
          </a:xfrm>
          <a:prstGeom prst="ellipse">
            <a:avLst/>
          </a:prstGeom>
          <a:solidFill>
            <a:srgbClr val="4A4E69">
              <a:alpha val="50000"/>
            </a:srgbClr>
          </a:solidFill>
          <a:ln w="12700">
            <a:solidFill>
              <a:srgbClr val="4A4E69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320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錄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3383280" y="731520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4A4E69">
              <a:alpha val="12000"/>
            </a:srgbClr>
          </a:solidFill>
          <a:ln w="12700">
            <a:solidFill>
              <a:srgbClr val="9A8C9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93008" y="8503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850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96512" y="85039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公司簡介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0" y="84124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83280" y="1600200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22223B">
              <a:alpha val="8000"/>
            </a:srgbClr>
          </a:solidFill>
          <a:ln w="12700">
            <a:solidFill>
              <a:srgbClr val="9A8C9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93008" y="17190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96512" y="171907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核心服務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0" y="170992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383280" y="2468880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4A4E69">
              <a:alpha val="12000"/>
            </a:srgbClr>
          </a:solidFill>
          <a:ln w="12700">
            <a:solidFill>
              <a:srgbClr val="9A8C98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93008" y="258775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96512" y="258775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成功案例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0" y="257860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383280" y="3337560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22223B">
              <a:alpha val="8000"/>
            </a:srgbClr>
          </a:solidFill>
          <a:ln w="12700">
            <a:solidFill>
              <a:srgbClr val="9A8C98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93008" y="345643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96512" y="34564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聯繫我們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29600" y="344728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9E4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2223B"/>
          </a:solidFill>
          <a:ln w="12700">
            <a:solidFill>
              <a:srgbClr val="2222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公司簡介  ABOUT US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認識 Area2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1097280" cy="50292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764792"/>
            <a:ext cx="91440" cy="91440"/>
          </a:xfrm>
          <a:prstGeom prst="ellipse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Area2 係一間專注 AI 數碼營銷嘅香港公司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423160"/>
            <a:ext cx="91440" cy="91440"/>
          </a:xfrm>
          <a:prstGeom prst="ellipse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585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 SEO、PPC、社媒營銷、品牌設計等全方位服務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081528"/>
            <a:ext cx="91440" cy="91440"/>
          </a:xfrm>
          <a:prstGeom prst="ellipse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91693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致力幫助企業提升數碼轉型效率，以數據驅動增長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739896"/>
            <a:ext cx="91440" cy="91440"/>
          </a:xfrm>
          <a:prstGeom prst="ellipse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57530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憑藉本地市場深度理解與 AI 技術，為客戶創造實質業務成果</a:t>
            </a:r>
            <a:endParaRPr lang="en-US" sz="1300" dirty="0"/>
          </a:p>
        </p:txBody>
      </p:sp>
      <p:pic>
        <p:nvPicPr>
          <p:cNvPr id="15" name="Image 0" descr="/home/ubuntu/.openclaw/workspace/data/pptx-demo/imgs/team-meet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685800"/>
            <a:ext cx="4023360" cy="28346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754880" y="685800"/>
            <a:ext cx="4023360" cy="2834640"/>
          </a:xfrm>
          <a:prstGeom prst="rect">
            <a:avLst/>
          </a:prstGeom>
          <a:solidFill>
            <a:srgbClr val="22223B">
              <a:alpha val="70000"/>
            </a:srgbClr>
          </a:solidFill>
          <a:ln w="12700">
            <a:solidFill>
              <a:srgbClr val="22223B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46320" y="265176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 2022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Hong Kong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858000" y="2651760"/>
            <a:ext cx="1783080" cy="731520"/>
          </a:xfrm>
          <a:prstGeom prst="roundRect">
            <a:avLst>
              <a:gd name="adj" fmla="val 7500"/>
            </a:avLst>
          </a:prstGeom>
          <a:solidFill>
            <a:srgbClr val="4A4E69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0" y="265176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Agency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54880" y="370332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22223B"/>
          </a:solidFill>
          <a:ln w="12700">
            <a:solidFill>
              <a:srgbClr val="2222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37033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我們的使命：以 AI 科技賦能品牌，精準觸達目標受眾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4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9E4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2223B"/>
          </a:solidFill>
          <a:ln w="12700">
            <a:solidFill>
              <a:srgbClr val="2222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核心服務  OUR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4114800" cy="1991106"/>
          </a:xfrm>
          <a:prstGeom prst="roundRect">
            <a:avLst>
              <a:gd name="adj" fmla="val 3674"/>
            </a:avLst>
          </a:prstGeom>
          <a:solidFill>
            <a:srgbClr val="22223B"/>
          </a:solidFill>
          <a:ln w="12700">
            <a:solidFill>
              <a:srgbClr val="2222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94760" y="612648"/>
            <a:ext cx="822960" cy="82296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914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SEO 搜尋引擎優化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435608"/>
            <a:ext cx="3749040" cy="2286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27048"/>
            <a:ext cx="3749040" cy="1030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關鍵詞研究、技術 SEO、內容優化，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持續提升網站自然流量與排名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749808"/>
            <a:ext cx="4114800" cy="1991106"/>
          </a:xfrm>
          <a:prstGeom prst="roundRect">
            <a:avLst>
              <a:gd name="adj" fmla="val 3674"/>
            </a:avLst>
          </a:prstGeom>
          <a:solidFill>
            <a:srgbClr val="4A4E69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612648"/>
            <a:ext cx="822960" cy="82296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914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532120" y="914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Paid Media 付費廣告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46320" y="1435608"/>
            <a:ext cx="3749040" cy="2286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527048"/>
            <a:ext cx="3749040" cy="1030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Ads / Facebook Ads 精準投放，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最大化廣告回報率 (ROAS)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923794"/>
            <a:ext cx="4114800" cy="1991106"/>
          </a:xfrm>
          <a:prstGeom prst="roundRect">
            <a:avLst>
              <a:gd name="adj" fmla="val 3674"/>
            </a:avLst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94760" y="2786634"/>
            <a:ext cx="822960" cy="82296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8838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34440" y="3088386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社交媒體營銷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609594"/>
            <a:ext cx="3749040" cy="2286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01034"/>
            <a:ext cx="3749040" cy="1030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內容策略制定、帳戶管理、KOL 合作，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提升品牌社群影響力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923794"/>
            <a:ext cx="4114800" cy="1991106"/>
          </a:xfrm>
          <a:prstGeom prst="roundRect">
            <a:avLst>
              <a:gd name="adj" fmla="val 3674"/>
            </a:avLst>
          </a:prstGeom>
          <a:solidFill>
            <a:srgbClr val="C9ADA7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2440" y="2786634"/>
            <a:ext cx="822960" cy="82296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08838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532120" y="3088386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品牌與設計管理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846320" y="3609594"/>
            <a:ext cx="3749040" cy="2286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701034"/>
            <a:ext cx="3749040" cy="1030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 視覺系統建立、品牌定位策略，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打造專業一致的品牌 Identity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23B"/>
          </a:solidFill>
          <a:ln w="12700">
            <a:solidFill>
              <a:srgbClr val="2222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4A4E69">
              <a:alpha val="30000"/>
            </a:srgbClr>
          </a:solidFill>
          <a:ln w="12700">
            <a:solidFill>
              <a:srgbClr val="4A4E6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4A4E69">
              <a:alpha val="25000"/>
            </a:srgbClr>
          </a:solidFill>
          <a:ln w="12700">
            <a:solidFill>
              <a:srgbClr val="4A4E6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成功案例數據  KEY METRICS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數字背後的實力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0" y="1298448"/>
            <a:ext cx="1828800" cy="50292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50876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4A4E69"/>
          </a:solidFill>
          <a:ln w="12700">
            <a:solidFill>
              <a:srgbClr val="9A8C9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508760"/>
            <a:ext cx="2468880" cy="73152"/>
          </a:xfrm>
          <a:prstGeom prst="roundRect">
            <a:avLst>
              <a:gd name="adj" fmla="val 100000"/>
            </a:avLst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685800" y="2971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成功項目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98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 Projects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50876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4A4E69"/>
          </a:solidFill>
          <a:ln w="12700">
            <a:solidFill>
              <a:srgbClr val="9A8C98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508760"/>
            <a:ext cx="2468880" cy="73152"/>
          </a:xfrm>
          <a:prstGeom prst="roundRect">
            <a:avLst>
              <a:gd name="adj" fmla="val 100000"/>
            </a:avLst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7373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500+萬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3383280" y="2971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廣告消費管理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3520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98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Spend Managed (HKD)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150876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4A4E69"/>
          </a:solidFill>
          <a:ln w="12700">
            <a:solidFill>
              <a:srgbClr val="9A8C98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508760"/>
            <a:ext cx="2468880" cy="73152"/>
          </a:xfrm>
          <a:prstGeom prst="roundRect">
            <a:avLst>
              <a:gd name="adj" fmla="val 100000"/>
            </a:avLst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7373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6400" dirty="0"/>
          </a:p>
        </p:txBody>
      </p:sp>
      <p:sp>
        <p:nvSpPr>
          <p:cNvPr id="21" name="Text 19"/>
          <p:cNvSpPr/>
          <p:nvPr/>
        </p:nvSpPr>
        <p:spPr>
          <a:xfrm>
            <a:off x="6080760" y="2971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客戶續約率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80760" y="3520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98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Retention Rate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數據會說話 — 每一個數字背後都係真實嘅客戶成果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9E4"/>
          </a:solidFill>
          <a:ln w="12700">
            <a:solidFill>
              <a:srgbClr val="F2E9E4"/>
            </a:solidFill>
            <a:prstDash val="solid"/>
          </a:ln>
        </p:spPr>
      </p:sp>
      <p:pic>
        <p:nvPicPr>
          <p:cNvPr id="3" name="Image 0" descr="/home/ubuntu/.openclaw/workspace/data/pptx-demo/imgs/digital-market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22223B">
              <a:alpha val="75000"/>
            </a:srgbClr>
          </a:solidFill>
          <a:ln w="12700">
            <a:solidFill>
              <a:srgbClr val="22223B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22223B"/>
          </a:solidFill>
          <a:ln w="12700">
            <a:solidFill>
              <a:srgbClr val="22223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4A4E69">
              <a:alpha val="40000"/>
            </a:srgbClr>
          </a:solidFill>
          <a:ln w="12700">
            <a:solidFill>
              <a:srgbClr val="4A4E69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320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CONTACT US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73152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我們期待</a:t>
            </a:r>
            <a:endParaRPr lang="en-US" sz="4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與您合作</a:t>
            </a:r>
            <a:endParaRPr lang="en-US" sz="4200" dirty="0"/>
          </a:p>
        </p:txBody>
      </p:sp>
      <p:sp>
        <p:nvSpPr>
          <p:cNvPr id="9" name="Shape 6"/>
          <p:cNvSpPr/>
          <p:nvPr/>
        </p:nvSpPr>
        <p:spPr>
          <a:xfrm>
            <a:off x="411480" y="2395728"/>
            <a:ext cx="1828800" cy="50292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2578608"/>
            <a:ext cx="4206240" cy="420624"/>
          </a:xfrm>
          <a:prstGeom prst="roundRect">
            <a:avLst>
              <a:gd name="adj" fmla="val 17391"/>
            </a:avLst>
          </a:prstGeom>
          <a:solidFill>
            <a:srgbClr val="4A4E69">
              <a:alpha val="60000"/>
            </a:srgbClr>
          </a:solidFill>
          <a:ln w="12700">
            <a:solidFill>
              <a:srgbClr val="9A8C98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57860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📞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60120" y="257860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+852 9565 1459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1480" y="3108960"/>
            <a:ext cx="4206240" cy="420624"/>
          </a:xfrm>
          <a:prstGeom prst="roundRect">
            <a:avLst>
              <a:gd name="adj" fmla="val 17391"/>
            </a:avLst>
          </a:prstGeom>
          <a:solidFill>
            <a:srgbClr val="4A4E69">
              <a:alpha val="60000"/>
            </a:srgbClr>
          </a:solidFill>
          <a:ln w="12700">
            <a:solidFill>
              <a:srgbClr val="9A8C98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10896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✉️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60120" y="310896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info@area2.com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11480" y="3639312"/>
            <a:ext cx="4206240" cy="420624"/>
          </a:xfrm>
          <a:prstGeom prst="roundRect">
            <a:avLst>
              <a:gd name="adj" fmla="val 17391"/>
            </a:avLst>
          </a:prstGeom>
          <a:solidFill>
            <a:srgbClr val="4A4E69">
              <a:alpha val="60000"/>
            </a:srgbClr>
          </a:solidFill>
          <a:ln w="12700">
            <a:solidFill>
              <a:srgbClr val="9A8C98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63931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📍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60120" y="3639312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旺角荷李活商業中心 18樓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11480" y="4169664"/>
            <a:ext cx="4206240" cy="420624"/>
          </a:xfrm>
          <a:prstGeom prst="roundRect">
            <a:avLst>
              <a:gd name="adj" fmla="val 17391"/>
            </a:avLst>
          </a:prstGeom>
          <a:solidFill>
            <a:srgbClr val="4A4E69">
              <a:alpha val="60000"/>
            </a:srgbClr>
          </a:solidFill>
          <a:ln w="12700">
            <a:solidFill>
              <a:srgbClr val="9A8C98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16966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🌐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60120" y="416966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www.area2.com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3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Area2 商業提案</dc:title>
  <dc:subject>AI 數碼營銷合作方案</dc:subject>
  <dc:creator>Area2 (HK) Limited</dc:creator>
  <cp:lastModifiedBy>Area2 (HK) Limited</cp:lastModifiedBy>
  <cp:revision>1</cp:revision>
  <dcterms:created xsi:type="dcterms:W3CDTF">2026-04-03T12:19:04Z</dcterms:created>
  <dcterms:modified xsi:type="dcterms:W3CDTF">2026-04-03T12:19:04Z</dcterms:modified>
</cp:coreProperties>
</file>