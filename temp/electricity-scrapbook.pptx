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5A623"/>
          </a:solidFill>
          <a:ln w="12700">
            <a:solidFill>
              <a:srgbClr val="F5A623"/>
            </a:solidFill>
            <a:prstDash val="solid"/>
          </a:ln>
        </p:spPr>
      </p:sp>
      <p:sp>
        <p:nvSpPr>
          <p:cNvPr id="3" name="Shape 1"/>
          <p:cNvSpPr/>
          <p:nvPr/>
        </p:nvSpPr>
        <p:spPr>
          <a:xfrm>
            <a:off x="0" y="4297680"/>
            <a:ext cx="9144000" cy="845820"/>
          </a:xfrm>
          <a:prstGeom prst="rect">
            <a:avLst/>
          </a:prstGeom>
          <a:solidFill>
            <a:srgbClr val="4CAF50"/>
          </a:solidFill>
          <a:ln w="12700">
            <a:solidFill>
              <a:srgbClr val="4CAF50"/>
            </a:solidFill>
            <a:prstDash val="solid"/>
          </a:ln>
        </p:spPr>
      </p:sp>
      <p:sp>
        <p:nvSpPr>
          <p:cNvPr id="4" name="Shape 2"/>
          <p:cNvSpPr/>
          <p:nvPr/>
        </p:nvSpPr>
        <p:spPr>
          <a:xfrm>
            <a:off x="3840480" y="274320"/>
            <a:ext cx="1463040" cy="457200"/>
          </a:xfrm>
          <a:prstGeom prst="roundRect">
            <a:avLst>
              <a:gd name="adj" fmla="val 30000"/>
            </a:avLst>
          </a:prstGeom>
          <a:solidFill>
            <a:srgbClr val="FFF176"/>
          </a:solidFill>
          <a:ln w="25400">
            <a:solidFill>
              <a:srgbClr val="F5A623"/>
            </a:solidFill>
            <a:prstDash val="solid"/>
          </a:ln>
        </p:spPr>
      </p:sp>
      <p:sp>
        <p:nvSpPr>
          <p:cNvPr id="5" name="Text 3"/>
          <p:cNvSpPr/>
          <p:nvPr/>
        </p:nvSpPr>
        <p:spPr>
          <a:xfrm>
            <a:off x="3840480" y="274320"/>
            <a:ext cx="1463040" cy="457200"/>
          </a:xfrm>
          <a:prstGeom prst="rect">
            <a:avLst/>
          </a:prstGeom>
          <a:noFill/>
          <a:ln/>
        </p:spPr>
        <p:txBody>
          <a:bodyPr wrap="square" rtlCol="0" anchor="ctr"/>
          <a:lstStyle/>
          <a:p>
            <a:pPr algn="ctr" indent="0" marL="0">
              <a:buNone/>
            </a:pPr>
            <a:r>
              <a:rPr lang="en-US" sz="1100" b="1" dirty="0">
                <a:solidFill>
                  <a:srgbClr val="7B3F00"/>
                </a:solidFill>
                <a:latin typeface="Arial" pitchFamily="34" charset="0"/>
                <a:ea typeface="Arial" pitchFamily="34" charset="-122"/>
                <a:cs typeface="Arial" pitchFamily="34" charset="-120"/>
              </a:rPr>
              <a:t>⚡ ELECTRICITY</a:t>
            </a:r>
            <a:endParaRPr lang="en-US" sz="1100" dirty="0"/>
          </a:p>
        </p:txBody>
      </p:sp>
      <p:sp>
        <p:nvSpPr>
          <p:cNvPr id="6" name="Text 4"/>
          <p:cNvSpPr/>
          <p:nvPr/>
        </p:nvSpPr>
        <p:spPr>
          <a:xfrm>
            <a:off x="457200" y="1097280"/>
            <a:ext cx="8229600" cy="1005840"/>
          </a:xfrm>
          <a:prstGeom prst="rect">
            <a:avLst/>
          </a:prstGeom>
          <a:noFill/>
          <a:ln/>
        </p:spPr>
        <p:txBody>
          <a:bodyPr wrap="square" rtlCol="0" anchor="ctr">
            <a:normAutofit/>
          </a:bodyPr>
          <a:lstStyle/>
          <a:p>
            <a:pPr algn="ctr" indent="0" marL="0">
              <a:buNone/>
            </a:pPr>
            <a:r>
              <a:rPr lang="en-US" sz="4000" b="1" dirty="0">
                <a:solidFill>
                  <a:srgbClr val="1A237E"/>
                </a:solidFill>
                <a:latin typeface="Arial" pitchFamily="34" charset="0"/>
                <a:ea typeface="Arial" pitchFamily="34" charset="-122"/>
                <a:cs typeface="Arial" pitchFamily="34" charset="-120"/>
              </a:rPr>
              <a:t>⚡ Electricity Scrapbook</a:t>
            </a:r>
            <a:endParaRPr lang="en-US" sz="4000" dirty="0"/>
          </a:p>
        </p:txBody>
      </p:sp>
      <p:sp>
        <p:nvSpPr>
          <p:cNvPr id="7" name="Shape 5"/>
          <p:cNvSpPr/>
          <p:nvPr/>
        </p:nvSpPr>
        <p:spPr>
          <a:xfrm>
            <a:off x="1371600" y="2148840"/>
            <a:ext cx="6400800" cy="640080"/>
          </a:xfrm>
          <a:prstGeom prst="roundRect">
            <a:avLst>
              <a:gd name="adj" fmla="val 28571"/>
            </a:avLst>
          </a:prstGeom>
          <a:solidFill>
            <a:srgbClr val="1565C0"/>
          </a:solidFill>
          <a:ln w="12700">
            <a:solidFill>
              <a:srgbClr val="1565C0"/>
            </a:solidFill>
            <a:prstDash val="solid"/>
          </a:ln>
        </p:spPr>
      </p:sp>
      <p:sp>
        <p:nvSpPr>
          <p:cNvPr id="8" name="Text 6"/>
          <p:cNvSpPr/>
          <p:nvPr/>
        </p:nvSpPr>
        <p:spPr>
          <a:xfrm>
            <a:off x="1371600" y="2148840"/>
            <a:ext cx="6400800" cy="6400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Unit 10 — Renewable &amp; Non-Renewable Energy</a:t>
            </a:r>
            <a:endParaRPr lang="en-US" sz="1600" dirty="0"/>
          </a:p>
        </p:txBody>
      </p:sp>
      <p:sp>
        <p:nvSpPr>
          <p:cNvPr id="9" name="Shape 7"/>
          <p:cNvSpPr/>
          <p:nvPr/>
        </p:nvSpPr>
        <p:spPr>
          <a:xfrm>
            <a:off x="1097280" y="2880360"/>
            <a:ext cx="1005840" cy="1005840"/>
          </a:xfrm>
          <a:prstGeom prst="ellipse">
            <a:avLst/>
          </a:prstGeom>
          <a:solidFill>
            <a:srgbClr val="FFF9C4"/>
          </a:solidFill>
          <a:ln w="38100">
            <a:solidFill>
              <a:srgbClr val="FFC107"/>
            </a:solidFill>
            <a:prstDash val="solid"/>
          </a:ln>
        </p:spPr>
      </p:sp>
      <p:sp>
        <p:nvSpPr>
          <p:cNvPr id="10" name="Text 8"/>
          <p:cNvSpPr/>
          <p:nvPr/>
        </p:nvSpPr>
        <p:spPr>
          <a:xfrm>
            <a:off x="1097280" y="2880360"/>
            <a:ext cx="1005840" cy="10058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Shape 9"/>
          <p:cNvSpPr/>
          <p:nvPr/>
        </p:nvSpPr>
        <p:spPr>
          <a:xfrm>
            <a:off x="3017520" y="2880360"/>
            <a:ext cx="1005840" cy="1005840"/>
          </a:xfrm>
          <a:prstGeom prst="ellipse">
            <a:avLst/>
          </a:prstGeom>
          <a:solidFill>
            <a:srgbClr val="E3F2FD"/>
          </a:solidFill>
          <a:ln w="38100">
            <a:solidFill>
              <a:srgbClr val="42A5F5"/>
            </a:solidFill>
            <a:prstDash val="solid"/>
          </a:ln>
        </p:spPr>
      </p:sp>
      <p:sp>
        <p:nvSpPr>
          <p:cNvPr id="12" name="Text 10"/>
          <p:cNvSpPr/>
          <p:nvPr/>
        </p:nvSpPr>
        <p:spPr>
          <a:xfrm>
            <a:off x="3017520" y="2880360"/>
            <a:ext cx="1005840" cy="10058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3" name="Shape 11"/>
          <p:cNvSpPr/>
          <p:nvPr/>
        </p:nvSpPr>
        <p:spPr>
          <a:xfrm>
            <a:off x="4937760" y="2880360"/>
            <a:ext cx="1005840" cy="1005840"/>
          </a:xfrm>
          <a:prstGeom prst="ellipse">
            <a:avLst/>
          </a:prstGeom>
          <a:solidFill>
            <a:srgbClr val="FFFDE7"/>
          </a:solidFill>
          <a:ln w="38100">
            <a:solidFill>
              <a:srgbClr val="FFD54F"/>
            </a:solidFill>
            <a:prstDash val="solid"/>
          </a:ln>
        </p:spPr>
      </p:sp>
      <p:sp>
        <p:nvSpPr>
          <p:cNvPr id="14" name="Text 12"/>
          <p:cNvSpPr/>
          <p:nvPr/>
        </p:nvSpPr>
        <p:spPr>
          <a:xfrm>
            <a:off x="4937760" y="2880360"/>
            <a:ext cx="1005840" cy="10058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5" name="Shape 13"/>
          <p:cNvSpPr/>
          <p:nvPr/>
        </p:nvSpPr>
        <p:spPr>
          <a:xfrm>
            <a:off x="6858000" y="2880360"/>
            <a:ext cx="1005840" cy="1005840"/>
          </a:xfrm>
          <a:prstGeom prst="ellipse">
            <a:avLst/>
          </a:prstGeom>
          <a:solidFill>
            <a:srgbClr val="E8F5E9"/>
          </a:solidFill>
          <a:ln w="38100">
            <a:solidFill>
              <a:srgbClr val="66BB6A"/>
            </a:solidFill>
            <a:prstDash val="solid"/>
          </a:ln>
        </p:spPr>
      </p:sp>
      <p:sp>
        <p:nvSpPr>
          <p:cNvPr id="16" name="Text 14"/>
          <p:cNvSpPr/>
          <p:nvPr/>
        </p:nvSpPr>
        <p:spPr>
          <a:xfrm>
            <a:off x="6858000" y="2880360"/>
            <a:ext cx="1005840" cy="10058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371600" y="3886200"/>
            <a:ext cx="4572000" cy="347472"/>
          </a:xfrm>
          <a:prstGeom prst="rect">
            <a:avLst/>
          </a:prstGeom>
          <a:noFill/>
          <a:ln/>
        </p:spPr>
        <p:txBody>
          <a:bodyPr wrap="square" rtlCol="0" anchor="ctr"/>
          <a:lstStyle/>
          <a:p>
            <a:pPr algn="l" indent="0" marL="0">
              <a:buNone/>
            </a:pPr>
            <a:r>
              <a:rPr lang="en-US" sz="1400" dirty="0">
                <a:solidFill>
                  <a:srgbClr val="FFFFFF"/>
                </a:solidFill>
                <a:latin typeface="Arial" pitchFamily="34" charset="0"/>
                <a:ea typeface="Arial" pitchFamily="34" charset="-122"/>
                <a:cs typeface="Arial" pitchFamily="34" charset="-120"/>
              </a:rPr>
              <a:t>Name: ___________________________</a:t>
            </a:r>
            <a:endParaRPr lang="en-US" sz="1400" dirty="0"/>
          </a:p>
        </p:txBody>
      </p:sp>
      <p:sp>
        <p:nvSpPr>
          <p:cNvPr id="18" name="Text 16"/>
          <p:cNvSpPr/>
          <p:nvPr/>
        </p:nvSpPr>
        <p:spPr>
          <a:xfrm>
            <a:off x="6400800" y="3886200"/>
            <a:ext cx="2286000" cy="347472"/>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April 2026</a:t>
            </a:r>
            <a:endParaRPr lang="en-US" sz="1400" dirty="0"/>
          </a:p>
        </p:txBody>
      </p:sp>
      <p:sp>
        <p:nvSpPr>
          <p:cNvPr id="19" name="Text 17"/>
          <p:cNvSpPr/>
          <p:nvPr/>
        </p:nvSpPr>
        <p:spPr>
          <a:xfrm>
            <a:off x="0" y="4315968"/>
            <a:ext cx="91440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Going Green with Clean Energy!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FF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565C0"/>
          </a:solidFill>
          <a:ln w="12700">
            <a:solidFill>
              <a:srgbClr val="1565C0"/>
            </a:solidFill>
            <a:prstDash val="solid"/>
          </a:ln>
        </p:spPr>
      </p:sp>
      <p:sp>
        <p:nvSpPr>
          <p:cNvPr id="3" name="Text 1"/>
          <p:cNvSpPr/>
          <p:nvPr/>
        </p:nvSpPr>
        <p:spPr>
          <a:xfrm>
            <a:off x="274320" y="0"/>
            <a:ext cx="8595360"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Q1: Renewable vs Non-Renewable Energy</a:t>
            </a:r>
            <a:endParaRPr lang="en-US" sz="2200" dirty="0"/>
          </a:p>
        </p:txBody>
      </p:sp>
      <p:sp>
        <p:nvSpPr>
          <p:cNvPr id="4" name="Shape 2"/>
          <p:cNvSpPr/>
          <p:nvPr/>
        </p:nvSpPr>
        <p:spPr>
          <a:xfrm>
            <a:off x="228600" y="868680"/>
            <a:ext cx="4114800" cy="2560320"/>
          </a:xfrm>
          <a:prstGeom prst="roundRect">
            <a:avLst>
              <a:gd name="adj" fmla="val 6429"/>
            </a:avLst>
          </a:prstGeom>
          <a:solidFill>
            <a:srgbClr val="E8F5E9"/>
          </a:solidFill>
          <a:ln w="38100">
            <a:solidFill>
              <a:srgbClr val="4CAF50"/>
            </a:solidFill>
            <a:prstDash val="solid"/>
          </a:ln>
        </p:spPr>
      </p:sp>
      <p:sp>
        <p:nvSpPr>
          <p:cNvPr id="5" name="Shape 3"/>
          <p:cNvSpPr/>
          <p:nvPr/>
        </p:nvSpPr>
        <p:spPr>
          <a:xfrm>
            <a:off x="228600" y="868680"/>
            <a:ext cx="4114800" cy="548640"/>
          </a:xfrm>
          <a:prstGeom prst="roundRect">
            <a:avLst>
              <a:gd name="adj" fmla="val 25000"/>
            </a:avLst>
          </a:prstGeom>
          <a:solidFill>
            <a:srgbClr val="4CAF50"/>
          </a:solidFill>
          <a:ln w="12700">
            <a:solidFill>
              <a:srgbClr val="4CAF50"/>
            </a:solidFill>
            <a:prstDash val="solid"/>
          </a:ln>
        </p:spPr>
      </p:sp>
      <p:sp>
        <p:nvSpPr>
          <p:cNvPr id="6" name="Text 4"/>
          <p:cNvSpPr/>
          <p:nvPr/>
        </p:nvSpPr>
        <p:spPr>
          <a:xfrm>
            <a:off x="228600" y="868680"/>
            <a:ext cx="4114800" cy="548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  Renewable Energy</a:t>
            </a:r>
            <a:endParaRPr lang="en-US" sz="1600" dirty="0"/>
          </a:p>
        </p:txBody>
      </p:sp>
      <p:sp>
        <p:nvSpPr>
          <p:cNvPr id="7" name="Shape 5"/>
          <p:cNvSpPr/>
          <p:nvPr/>
        </p:nvSpPr>
        <p:spPr>
          <a:xfrm>
            <a:off x="640080" y="1508760"/>
            <a:ext cx="640080" cy="640080"/>
          </a:xfrm>
          <a:prstGeom prst="ellipse">
            <a:avLst/>
          </a:prstGeom>
          <a:solidFill>
            <a:srgbClr val="C8E6C9"/>
          </a:solidFill>
          <a:ln w="25400">
            <a:solidFill>
              <a:srgbClr val="4CAF50"/>
            </a:solidFill>
            <a:prstDash val="solid"/>
          </a:ln>
        </p:spPr>
      </p:sp>
      <p:sp>
        <p:nvSpPr>
          <p:cNvPr id="8" name="Text 6"/>
          <p:cNvSpPr/>
          <p:nvPr/>
        </p:nvSpPr>
        <p:spPr>
          <a:xfrm>
            <a:off x="640080" y="1508760"/>
            <a:ext cx="64008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9" name="Shape 7"/>
          <p:cNvSpPr/>
          <p:nvPr/>
        </p:nvSpPr>
        <p:spPr>
          <a:xfrm>
            <a:off x="1737360" y="1508760"/>
            <a:ext cx="640080" cy="640080"/>
          </a:xfrm>
          <a:prstGeom prst="ellipse">
            <a:avLst/>
          </a:prstGeom>
          <a:solidFill>
            <a:srgbClr val="C8E6C9"/>
          </a:solidFill>
          <a:ln w="25400">
            <a:solidFill>
              <a:srgbClr val="4CAF50"/>
            </a:solidFill>
            <a:prstDash val="solid"/>
          </a:ln>
        </p:spPr>
      </p:sp>
      <p:sp>
        <p:nvSpPr>
          <p:cNvPr id="10" name="Text 8"/>
          <p:cNvSpPr/>
          <p:nvPr/>
        </p:nvSpPr>
        <p:spPr>
          <a:xfrm>
            <a:off x="1737360" y="1508760"/>
            <a:ext cx="64008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Shape 9"/>
          <p:cNvSpPr/>
          <p:nvPr/>
        </p:nvSpPr>
        <p:spPr>
          <a:xfrm>
            <a:off x="2834640" y="1508760"/>
            <a:ext cx="640080" cy="640080"/>
          </a:xfrm>
          <a:prstGeom prst="ellipse">
            <a:avLst/>
          </a:prstGeom>
          <a:solidFill>
            <a:srgbClr val="C8E6C9"/>
          </a:solidFill>
          <a:ln w="25400">
            <a:solidFill>
              <a:srgbClr val="4CAF50"/>
            </a:solidFill>
            <a:prstDash val="solid"/>
          </a:ln>
        </p:spPr>
      </p:sp>
      <p:sp>
        <p:nvSpPr>
          <p:cNvPr id="12" name="Text 10"/>
          <p:cNvSpPr/>
          <p:nvPr/>
        </p:nvSpPr>
        <p:spPr>
          <a:xfrm>
            <a:off x="2834640" y="1508760"/>
            <a:ext cx="64008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365760" y="2240280"/>
            <a:ext cx="3749040" cy="1097280"/>
          </a:xfrm>
          <a:prstGeom prst="rect">
            <a:avLst/>
          </a:prstGeom>
          <a:noFill/>
          <a:ln/>
        </p:spPr>
        <p:txBody>
          <a:bodyPr wrap="square" rtlCol="0" anchor="t"/>
          <a:lstStyle/>
          <a:p>
            <a:pPr algn="l" indent="0" marL="0">
              <a:buNone/>
            </a:pPr>
            <a:r>
              <a:rPr lang="en-US" sz="1300" dirty="0">
                <a:solidFill>
                  <a:srgbClr val="2E7D32"/>
                </a:solidFill>
                <a:latin typeface="Arial" pitchFamily="34" charset="0"/>
                <a:ea typeface="Arial" pitchFamily="34" charset="-122"/>
                <a:cs typeface="Arial" pitchFamily="34" charset="-120"/>
              </a:rPr>
              <a:t>From natural sources like sunlight</a:t>
            </a:r>
            <a:endParaRPr lang="en-US" sz="1300" dirty="0"/>
          </a:p>
          <a:p>
            <a:pPr algn="l" indent="0" marL="0">
              <a:buNone/>
            </a:pPr>
            <a:r>
              <a:rPr lang="en-US" sz="1300" dirty="0">
                <a:solidFill>
                  <a:srgbClr val="2E7D32"/>
                </a:solidFill>
                <a:latin typeface="Arial" pitchFamily="34" charset="0"/>
                <a:ea typeface="Arial" pitchFamily="34" charset="-122"/>
                <a:cs typeface="Arial" pitchFamily="34" charset="-120"/>
              </a:rPr>
              <a:t>and wind that never run out.</a:t>
            </a:r>
            <a:endParaRPr lang="en-US" sz="1300" dirty="0"/>
          </a:p>
        </p:txBody>
      </p:sp>
      <p:sp>
        <p:nvSpPr>
          <p:cNvPr id="14" name="Shape 12"/>
          <p:cNvSpPr/>
          <p:nvPr/>
        </p:nvSpPr>
        <p:spPr>
          <a:xfrm>
            <a:off x="4800600" y="868680"/>
            <a:ext cx="4114800" cy="2560320"/>
          </a:xfrm>
          <a:prstGeom prst="roundRect">
            <a:avLst>
              <a:gd name="adj" fmla="val 6429"/>
            </a:avLst>
          </a:prstGeom>
          <a:solidFill>
            <a:srgbClr val="FFEBEE"/>
          </a:solidFill>
          <a:ln w="38100">
            <a:solidFill>
              <a:srgbClr val="F44336"/>
            </a:solidFill>
            <a:prstDash val="solid"/>
          </a:ln>
        </p:spPr>
      </p:sp>
      <p:sp>
        <p:nvSpPr>
          <p:cNvPr id="15" name="Shape 13"/>
          <p:cNvSpPr/>
          <p:nvPr/>
        </p:nvSpPr>
        <p:spPr>
          <a:xfrm>
            <a:off x="4800600" y="868680"/>
            <a:ext cx="4114800" cy="548640"/>
          </a:xfrm>
          <a:prstGeom prst="roundRect">
            <a:avLst>
              <a:gd name="adj" fmla="val 25000"/>
            </a:avLst>
          </a:prstGeom>
          <a:solidFill>
            <a:srgbClr val="F44336"/>
          </a:solidFill>
          <a:ln w="12700">
            <a:solidFill>
              <a:srgbClr val="F44336"/>
            </a:solidFill>
            <a:prstDash val="solid"/>
          </a:ln>
        </p:spPr>
      </p:sp>
      <p:sp>
        <p:nvSpPr>
          <p:cNvPr id="16" name="Text 14"/>
          <p:cNvSpPr/>
          <p:nvPr/>
        </p:nvSpPr>
        <p:spPr>
          <a:xfrm>
            <a:off x="4800600" y="868680"/>
            <a:ext cx="4114800" cy="548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  Non-Renewable Energy</a:t>
            </a:r>
            <a:endParaRPr lang="en-US" sz="1600" dirty="0"/>
          </a:p>
        </p:txBody>
      </p:sp>
      <p:sp>
        <p:nvSpPr>
          <p:cNvPr id="17" name="Shape 15"/>
          <p:cNvSpPr/>
          <p:nvPr/>
        </p:nvSpPr>
        <p:spPr>
          <a:xfrm>
            <a:off x="5212080" y="1508760"/>
            <a:ext cx="640080" cy="640080"/>
          </a:xfrm>
          <a:prstGeom prst="ellipse">
            <a:avLst/>
          </a:prstGeom>
          <a:solidFill>
            <a:srgbClr val="FFCDD2"/>
          </a:solidFill>
          <a:ln w="25400">
            <a:solidFill>
              <a:srgbClr val="F44336"/>
            </a:solidFill>
            <a:prstDash val="solid"/>
          </a:ln>
        </p:spPr>
      </p:sp>
      <p:sp>
        <p:nvSpPr>
          <p:cNvPr id="18" name="Text 16"/>
          <p:cNvSpPr/>
          <p:nvPr/>
        </p:nvSpPr>
        <p:spPr>
          <a:xfrm>
            <a:off x="5212080" y="1508760"/>
            <a:ext cx="64008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Shape 17"/>
          <p:cNvSpPr/>
          <p:nvPr/>
        </p:nvSpPr>
        <p:spPr>
          <a:xfrm>
            <a:off x="6309360" y="1508760"/>
            <a:ext cx="640080" cy="640080"/>
          </a:xfrm>
          <a:prstGeom prst="ellipse">
            <a:avLst/>
          </a:prstGeom>
          <a:solidFill>
            <a:srgbClr val="FFCDD2"/>
          </a:solidFill>
          <a:ln w="25400">
            <a:solidFill>
              <a:srgbClr val="F44336"/>
            </a:solidFill>
            <a:prstDash val="solid"/>
          </a:ln>
        </p:spPr>
      </p:sp>
      <p:sp>
        <p:nvSpPr>
          <p:cNvPr id="20" name="Text 18"/>
          <p:cNvSpPr/>
          <p:nvPr/>
        </p:nvSpPr>
        <p:spPr>
          <a:xfrm>
            <a:off x="6309360" y="1508760"/>
            <a:ext cx="64008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1" name="Shape 19"/>
          <p:cNvSpPr/>
          <p:nvPr/>
        </p:nvSpPr>
        <p:spPr>
          <a:xfrm>
            <a:off x="7406640" y="1508760"/>
            <a:ext cx="640080" cy="640080"/>
          </a:xfrm>
          <a:prstGeom prst="ellipse">
            <a:avLst/>
          </a:prstGeom>
          <a:solidFill>
            <a:srgbClr val="FFCDD2"/>
          </a:solidFill>
          <a:ln w="25400">
            <a:solidFill>
              <a:srgbClr val="F44336"/>
            </a:solidFill>
            <a:prstDash val="solid"/>
          </a:ln>
        </p:spPr>
      </p:sp>
      <p:sp>
        <p:nvSpPr>
          <p:cNvPr id="22" name="Text 20"/>
          <p:cNvSpPr/>
          <p:nvPr/>
        </p:nvSpPr>
        <p:spPr>
          <a:xfrm>
            <a:off x="7406640" y="1508760"/>
            <a:ext cx="64008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4937760" y="2240280"/>
            <a:ext cx="3749040" cy="1097280"/>
          </a:xfrm>
          <a:prstGeom prst="rect">
            <a:avLst/>
          </a:prstGeom>
          <a:noFill/>
          <a:ln/>
        </p:spPr>
        <p:txBody>
          <a:bodyPr wrap="square" rtlCol="0" anchor="t"/>
          <a:lstStyle/>
          <a:p>
            <a:pPr algn="l" indent="0" marL="0">
              <a:buNone/>
            </a:pPr>
            <a:r>
              <a:rPr lang="en-US" sz="1300" dirty="0">
                <a:solidFill>
                  <a:srgbClr val="C62828"/>
                </a:solidFill>
                <a:latin typeface="Arial" pitchFamily="34" charset="0"/>
                <a:ea typeface="Arial" pitchFamily="34" charset="-122"/>
                <a:cs typeface="Arial" pitchFamily="34" charset="-120"/>
              </a:rPr>
              <a:t>From fossil fuels like coal and oil</a:t>
            </a:r>
            <a:endParaRPr lang="en-US" sz="1300" dirty="0"/>
          </a:p>
          <a:p>
            <a:pPr algn="l" indent="0" marL="0">
              <a:buNone/>
            </a:pPr>
            <a:r>
              <a:rPr lang="en-US" sz="1300" dirty="0">
                <a:solidFill>
                  <a:srgbClr val="C62828"/>
                </a:solidFill>
                <a:latin typeface="Arial" pitchFamily="34" charset="0"/>
                <a:ea typeface="Arial" pitchFamily="34" charset="-122"/>
                <a:cs typeface="Arial" pitchFamily="34" charset="-120"/>
              </a:rPr>
              <a:t>that will eventually run out</a:t>
            </a:r>
            <a:endParaRPr lang="en-US" sz="1300" dirty="0"/>
          </a:p>
          <a:p>
            <a:pPr algn="l" indent="0" marL="0">
              <a:buNone/>
            </a:pPr>
            <a:r>
              <a:rPr lang="en-US" sz="1300" dirty="0">
                <a:solidFill>
                  <a:srgbClr val="C62828"/>
                </a:solidFill>
                <a:latin typeface="Arial" pitchFamily="34" charset="0"/>
                <a:ea typeface="Arial" pitchFamily="34" charset="-122"/>
                <a:cs typeface="Arial" pitchFamily="34" charset="-120"/>
              </a:rPr>
              <a:t>and cause pollution.</a:t>
            </a:r>
            <a:endParaRPr lang="en-US" sz="1300" dirty="0"/>
          </a:p>
        </p:txBody>
      </p:sp>
      <p:sp>
        <p:nvSpPr>
          <p:cNvPr id="24" name="Shape 22"/>
          <p:cNvSpPr/>
          <p:nvPr/>
        </p:nvSpPr>
        <p:spPr>
          <a:xfrm>
            <a:off x="4224528" y="1600200"/>
            <a:ext cx="685800" cy="685800"/>
          </a:xfrm>
          <a:prstGeom prst="ellipse">
            <a:avLst/>
          </a:prstGeom>
          <a:solidFill>
            <a:srgbClr val="FF9800"/>
          </a:solidFill>
          <a:ln w="25400">
            <a:solidFill>
              <a:srgbClr val="E65100"/>
            </a:solidFill>
            <a:prstDash val="solid"/>
          </a:ln>
        </p:spPr>
      </p:sp>
      <p:sp>
        <p:nvSpPr>
          <p:cNvPr id="25" name="Text 23"/>
          <p:cNvSpPr/>
          <p:nvPr/>
        </p:nvSpPr>
        <p:spPr>
          <a:xfrm>
            <a:off x="4224528" y="1600200"/>
            <a:ext cx="685800" cy="6858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VS</a:t>
            </a:r>
            <a:endParaRPr lang="en-US" sz="1400" dirty="0"/>
          </a:p>
        </p:txBody>
      </p:sp>
      <p:sp>
        <p:nvSpPr>
          <p:cNvPr id="26" name="Shape 24"/>
          <p:cNvSpPr/>
          <p:nvPr/>
        </p:nvSpPr>
        <p:spPr>
          <a:xfrm>
            <a:off x="228600" y="3520440"/>
            <a:ext cx="8686800" cy="1417320"/>
          </a:xfrm>
          <a:prstGeom prst="roundRect">
            <a:avLst>
              <a:gd name="adj" fmla="val 9677"/>
            </a:avLst>
          </a:prstGeom>
          <a:solidFill>
            <a:srgbClr val="FFF8E1"/>
          </a:solidFill>
          <a:ln w="25400">
            <a:solidFill>
              <a:srgbClr val="FFB300"/>
            </a:solidFill>
            <a:prstDash val="solid"/>
          </a:ln>
        </p:spPr>
      </p:sp>
      <p:sp>
        <p:nvSpPr>
          <p:cNvPr id="27" name="Text 25"/>
          <p:cNvSpPr/>
          <p:nvPr/>
        </p:nvSpPr>
        <p:spPr>
          <a:xfrm>
            <a:off x="411480" y="3566160"/>
            <a:ext cx="8321040" cy="320040"/>
          </a:xfrm>
          <a:prstGeom prst="rect">
            <a:avLst/>
          </a:prstGeom>
          <a:noFill/>
          <a:ln/>
        </p:spPr>
        <p:txBody>
          <a:bodyPr wrap="square" rtlCol="0" anchor="ctr"/>
          <a:lstStyle/>
          <a:p>
            <a:pPr algn="l" indent="0" marL="0">
              <a:buNone/>
            </a:pPr>
            <a:r>
              <a:rPr lang="en-US" sz="1300" b="1" dirty="0">
                <a:solidFill>
                  <a:srgbClr val="E65100"/>
                </a:solidFill>
                <a:latin typeface="Arial" pitchFamily="34" charset="0"/>
                <a:ea typeface="Arial" pitchFamily="34" charset="-122"/>
                <a:cs typeface="Arial" pitchFamily="34" charset="-120"/>
              </a:rPr>
              <a:t>📝  Summary:</a:t>
            </a:r>
            <a:endParaRPr lang="en-US" sz="1300" dirty="0"/>
          </a:p>
        </p:txBody>
      </p:sp>
      <p:sp>
        <p:nvSpPr>
          <p:cNvPr id="28" name="Text 26"/>
          <p:cNvSpPr/>
          <p:nvPr/>
        </p:nvSpPr>
        <p:spPr>
          <a:xfrm>
            <a:off x="411480" y="3886200"/>
            <a:ext cx="8321040" cy="1005840"/>
          </a:xfrm>
          <a:prstGeom prst="rect">
            <a:avLst/>
          </a:prstGeom>
          <a:noFill/>
          <a:ln/>
        </p:spPr>
        <p:txBody>
          <a:bodyPr wrap="square" rtlCol="0" anchor="t"/>
          <a:lstStyle/>
          <a:p>
            <a:pPr algn="l" indent="0" marL="0">
              <a:buNone/>
            </a:pPr>
            <a:r>
              <a:rPr lang="en-US" sz="1200" dirty="0">
                <a:solidFill>
                  <a:srgbClr val="4E342E"/>
                </a:solidFill>
                <a:latin typeface="Arial" pitchFamily="34" charset="0"/>
                <a:ea typeface="Arial" pitchFamily="34" charset="-122"/>
                <a:cs typeface="Arial" pitchFamily="34" charset="-120"/>
              </a:rPr>
              <a:t>Renewable energy comes from natural sources that never run out, such as sunlight and wind. Non-renewable energy comes from fossil fuels like coal and oil, which will eventually run out and cause pollution.</a:t>
            </a:r>
            <a:endParaRPr lang="en-US" sz="1200" dirty="0"/>
          </a:p>
        </p:txBody>
      </p:sp>
      <p:sp>
        <p:nvSpPr>
          <p:cNvPr id="29" name="Shape 27"/>
          <p:cNvSpPr/>
          <p:nvPr/>
        </p:nvSpPr>
        <p:spPr>
          <a:xfrm>
            <a:off x="8503920" y="4663440"/>
            <a:ext cx="365760" cy="365760"/>
          </a:xfrm>
          <a:prstGeom prst="ellipse">
            <a:avLst/>
          </a:prstGeom>
          <a:solidFill>
            <a:srgbClr val="1565C0"/>
          </a:solidFill>
          <a:ln w="12700">
            <a:solidFill>
              <a:srgbClr val="1565C0"/>
            </a:solidFill>
            <a:prstDash val="solid"/>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65100"/>
          </a:solidFill>
          <a:ln w="12700">
            <a:solidFill>
              <a:srgbClr val="E65100"/>
            </a:solidFill>
            <a:prstDash val="solid"/>
          </a:ln>
        </p:spPr>
      </p:sp>
      <p:sp>
        <p:nvSpPr>
          <p:cNvPr id="3" name="Text 1"/>
          <p:cNvSpPr/>
          <p:nvPr/>
        </p:nvSpPr>
        <p:spPr>
          <a:xfrm>
            <a:off x="274320" y="0"/>
            <a:ext cx="8595360" cy="7772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Q2: Types of Energy Sources</a:t>
            </a:r>
            <a:endParaRPr lang="en-US" sz="2400" dirty="0"/>
          </a:p>
        </p:txBody>
      </p:sp>
      <p:sp>
        <p:nvSpPr>
          <p:cNvPr id="4" name="Shape 2"/>
          <p:cNvSpPr/>
          <p:nvPr/>
        </p:nvSpPr>
        <p:spPr>
          <a:xfrm>
            <a:off x="182880" y="914400"/>
            <a:ext cx="4206240" cy="3931920"/>
          </a:xfrm>
          <a:prstGeom prst="roundRect">
            <a:avLst>
              <a:gd name="adj" fmla="val 4651"/>
            </a:avLst>
          </a:prstGeom>
          <a:solidFill>
            <a:srgbClr val="E8F5E9"/>
          </a:solidFill>
          <a:ln w="38100">
            <a:solidFill>
              <a:srgbClr val="4CAF50"/>
            </a:solidFill>
            <a:prstDash val="solid"/>
          </a:ln>
        </p:spPr>
      </p:sp>
      <p:sp>
        <p:nvSpPr>
          <p:cNvPr id="5" name="Shape 3"/>
          <p:cNvSpPr/>
          <p:nvPr/>
        </p:nvSpPr>
        <p:spPr>
          <a:xfrm>
            <a:off x="182880" y="914400"/>
            <a:ext cx="4206240" cy="594360"/>
          </a:xfrm>
          <a:prstGeom prst="roundRect">
            <a:avLst>
              <a:gd name="adj" fmla="val 23077"/>
            </a:avLst>
          </a:prstGeom>
          <a:solidFill>
            <a:srgbClr val="388E3C"/>
          </a:solidFill>
          <a:ln w="12700">
            <a:solidFill>
              <a:srgbClr val="388E3C"/>
            </a:solidFill>
            <a:prstDash val="solid"/>
          </a:ln>
        </p:spPr>
      </p:sp>
      <p:sp>
        <p:nvSpPr>
          <p:cNvPr id="6" name="Text 4"/>
          <p:cNvSpPr/>
          <p:nvPr/>
        </p:nvSpPr>
        <p:spPr>
          <a:xfrm>
            <a:off x="182880" y="914400"/>
            <a:ext cx="4206240" cy="59436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Renewable Energy</a:t>
            </a:r>
            <a:endParaRPr lang="en-US" sz="1700" dirty="0"/>
          </a:p>
        </p:txBody>
      </p:sp>
      <p:sp>
        <p:nvSpPr>
          <p:cNvPr id="7" name="Shape 5"/>
          <p:cNvSpPr/>
          <p:nvPr/>
        </p:nvSpPr>
        <p:spPr>
          <a:xfrm>
            <a:off x="411480" y="1600200"/>
            <a:ext cx="3749040" cy="1051560"/>
          </a:xfrm>
          <a:prstGeom prst="roundRect">
            <a:avLst>
              <a:gd name="adj" fmla="val 13043"/>
            </a:avLst>
          </a:prstGeom>
          <a:solidFill>
            <a:srgbClr val="FFFDE7"/>
          </a:solidFill>
          <a:ln w="25400">
            <a:solidFill>
              <a:srgbClr val="FDD835"/>
            </a:solidFill>
            <a:prstDash val="solid"/>
          </a:ln>
        </p:spPr>
      </p:sp>
      <p:sp>
        <p:nvSpPr>
          <p:cNvPr id="8" name="Text 6"/>
          <p:cNvSpPr/>
          <p:nvPr/>
        </p:nvSpPr>
        <p:spPr>
          <a:xfrm>
            <a:off x="502920" y="1664208"/>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9" name="Text 7"/>
          <p:cNvSpPr/>
          <p:nvPr/>
        </p:nvSpPr>
        <p:spPr>
          <a:xfrm>
            <a:off x="1417320" y="1691640"/>
            <a:ext cx="2560320" cy="411480"/>
          </a:xfrm>
          <a:prstGeom prst="rect">
            <a:avLst/>
          </a:prstGeom>
          <a:noFill/>
          <a:ln/>
        </p:spPr>
        <p:txBody>
          <a:bodyPr wrap="square" rtlCol="0" anchor="ctr"/>
          <a:lstStyle/>
          <a:p>
            <a:pPr algn="l" indent="0" marL="0">
              <a:buNone/>
            </a:pPr>
            <a:r>
              <a:rPr lang="en-US" sz="1600" b="1" dirty="0">
                <a:solidFill>
                  <a:srgbClr val="F57F17"/>
                </a:solidFill>
                <a:latin typeface="Arial" pitchFamily="34" charset="0"/>
                <a:ea typeface="Arial" pitchFamily="34" charset="-122"/>
                <a:cs typeface="Arial" pitchFamily="34" charset="-120"/>
              </a:rPr>
              <a:t>Solar Energy</a:t>
            </a:r>
            <a:endParaRPr lang="en-US" sz="1600" dirty="0"/>
          </a:p>
        </p:txBody>
      </p:sp>
      <p:sp>
        <p:nvSpPr>
          <p:cNvPr id="10" name="Text 8"/>
          <p:cNvSpPr/>
          <p:nvPr/>
        </p:nvSpPr>
        <p:spPr>
          <a:xfrm>
            <a:off x="1417320" y="2103120"/>
            <a:ext cx="2560320" cy="365760"/>
          </a:xfrm>
          <a:prstGeom prst="rect">
            <a:avLst/>
          </a:prstGeom>
          <a:noFill/>
          <a:ln/>
        </p:spPr>
        <p:txBody>
          <a:bodyPr wrap="square" rtlCol="0" anchor="ctr"/>
          <a:lstStyle/>
          <a:p>
            <a:pPr algn="l" indent="0" marL="0">
              <a:buNone/>
            </a:pPr>
            <a:r>
              <a:rPr lang="en-US" sz="1200" dirty="0">
                <a:solidFill>
                  <a:srgbClr val="795548"/>
                </a:solidFill>
                <a:latin typeface="Arial" pitchFamily="34" charset="0"/>
                <a:ea typeface="Arial" pitchFamily="34" charset="-122"/>
                <a:cs typeface="Arial" pitchFamily="34" charset="-120"/>
              </a:rPr>
              <a:t>Energy from the sun ☀️</a:t>
            </a:r>
            <a:endParaRPr lang="en-US" sz="1200" dirty="0"/>
          </a:p>
        </p:txBody>
      </p:sp>
      <p:sp>
        <p:nvSpPr>
          <p:cNvPr id="11" name="Shape 9"/>
          <p:cNvSpPr/>
          <p:nvPr/>
        </p:nvSpPr>
        <p:spPr>
          <a:xfrm>
            <a:off x="411480" y="2743200"/>
            <a:ext cx="3749040" cy="1051560"/>
          </a:xfrm>
          <a:prstGeom prst="roundRect">
            <a:avLst>
              <a:gd name="adj" fmla="val 13043"/>
            </a:avLst>
          </a:prstGeom>
          <a:solidFill>
            <a:srgbClr val="E3F2FD"/>
          </a:solidFill>
          <a:ln w="25400">
            <a:solidFill>
              <a:srgbClr val="42A5F5"/>
            </a:solidFill>
            <a:prstDash val="solid"/>
          </a:ln>
        </p:spPr>
      </p:sp>
      <p:sp>
        <p:nvSpPr>
          <p:cNvPr id="12" name="Text 10"/>
          <p:cNvSpPr/>
          <p:nvPr/>
        </p:nvSpPr>
        <p:spPr>
          <a:xfrm>
            <a:off x="502920" y="2807208"/>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3" name="Text 11"/>
          <p:cNvSpPr/>
          <p:nvPr/>
        </p:nvSpPr>
        <p:spPr>
          <a:xfrm>
            <a:off x="1417320" y="2834640"/>
            <a:ext cx="2560320" cy="411480"/>
          </a:xfrm>
          <a:prstGeom prst="rect">
            <a:avLst/>
          </a:prstGeom>
          <a:noFill/>
          <a:ln/>
        </p:spPr>
        <p:txBody>
          <a:bodyPr wrap="square" rtlCol="0" anchor="ctr"/>
          <a:lstStyle/>
          <a:p>
            <a:pPr algn="l" indent="0" marL="0">
              <a:buNone/>
            </a:pPr>
            <a:r>
              <a:rPr lang="en-US" sz="1600" b="1" dirty="0">
                <a:solidFill>
                  <a:srgbClr val="1565C0"/>
                </a:solidFill>
                <a:latin typeface="Arial" pitchFamily="34" charset="0"/>
                <a:ea typeface="Arial" pitchFamily="34" charset="-122"/>
                <a:cs typeface="Arial" pitchFamily="34" charset="-120"/>
              </a:rPr>
              <a:t>Wind Energy</a:t>
            </a:r>
            <a:endParaRPr lang="en-US" sz="1600" dirty="0"/>
          </a:p>
        </p:txBody>
      </p:sp>
      <p:sp>
        <p:nvSpPr>
          <p:cNvPr id="14" name="Text 12"/>
          <p:cNvSpPr/>
          <p:nvPr/>
        </p:nvSpPr>
        <p:spPr>
          <a:xfrm>
            <a:off x="1417320" y="3246120"/>
            <a:ext cx="2560320" cy="365760"/>
          </a:xfrm>
          <a:prstGeom prst="rect">
            <a:avLst/>
          </a:prstGeom>
          <a:noFill/>
          <a:ln/>
        </p:spPr>
        <p:txBody>
          <a:bodyPr wrap="square" rtlCol="0" anchor="ctr"/>
          <a:lstStyle/>
          <a:p>
            <a:pPr algn="l" indent="0" marL="0">
              <a:buNone/>
            </a:pPr>
            <a:r>
              <a:rPr lang="en-US" sz="1200" dirty="0">
                <a:solidFill>
                  <a:srgbClr val="795548"/>
                </a:solidFill>
                <a:latin typeface="Arial" pitchFamily="34" charset="0"/>
                <a:ea typeface="Arial" pitchFamily="34" charset="-122"/>
                <a:cs typeface="Arial" pitchFamily="34" charset="-120"/>
              </a:rPr>
              <a:t>Energy from the wind 🌬️</a:t>
            </a:r>
            <a:endParaRPr lang="en-US" sz="1200" dirty="0"/>
          </a:p>
        </p:txBody>
      </p:sp>
      <p:sp>
        <p:nvSpPr>
          <p:cNvPr id="15" name="Shape 13"/>
          <p:cNvSpPr/>
          <p:nvPr/>
        </p:nvSpPr>
        <p:spPr>
          <a:xfrm>
            <a:off x="4754880" y="914400"/>
            <a:ext cx="4206240" cy="3931920"/>
          </a:xfrm>
          <a:prstGeom prst="roundRect">
            <a:avLst>
              <a:gd name="adj" fmla="val 4651"/>
            </a:avLst>
          </a:prstGeom>
          <a:solidFill>
            <a:srgbClr val="F5F5F5"/>
          </a:solidFill>
          <a:ln w="38100">
            <a:solidFill>
              <a:srgbClr val="9E9E9E"/>
            </a:solidFill>
            <a:prstDash val="solid"/>
          </a:ln>
        </p:spPr>
      </p:sp>
      <p:sp>
        <p:nvSpPr>
          <p:cNvPr id="16" name="Shape 14"/>
          <p:cNvSpPr/>
          <p:nvPr/>
        </p:nvSpPr>
        <p:spPr>
          <a:xfrm>
            <a:off x="4754880" y="914400"/>
            <a:ext cx="4206240" cy="594360"/>
          </a:xfrm>
          <a:prstGeom prst="roundRect">
            <a:avLst>
              <a:gd name="adj" fmla="val 23077"/>
            </a:avLst>
          </a:prstGeom>
          <a:solidFill>
            <a:srgbClr val="616161"/>
          </a:solidFill>
          <a:ln w="12700">
            <a:solidFill>
              <a:srgbClr val="616161"/>
            </a:solidFill>
            <a:prstDash val="solid"/>
          </a:ln>
        </p:spPr>
      </p:sp>
      <p:sp>
        <p:nvSpPr>
          <p:cNvPr id="17" name="Text 15"/>
          <p:cNvSpPr/>
          <p:nvPr/>
        </p:nvSpPr>
        <p:spPr>
          <a:xfrm>
            <a:off x="4754880" y="914400"/>
            <a:ext cx="4206240" cy="59436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Non-Renewable Energy</a:t>
            </a:r>
            <a:endParaRPr lang="en-US" sz="1700" dirty="0"/>
          </a:p>
        </p:txBody>
      </p:sp>
      <p:sp>
        <p:nvSpPr>
          <p:cNvPr id="18" name="Shape 16"/>
          <p:cNvSpPr/>
          <p:nvPr/>
        </p:nvSpPr>
        <p:spPr>
          <a:xfrm>
            <a:off x="4983480" y="1600200"/>
            <a:ext cx="3749040" cy="1051560"/>
          </a:xfrm>
          <a:prstGeom prst="roundRect">
            <a:avLst>
              <a:gd name="adj" fmla="val 13043"/>
            </a:avLst>
          </a:prstGeom>
          <a:solidFill>
            <a:srgbClr val="FFF8E1"/>
          </a:solidFill>
          <a:ln w="25400">
            <a:solidFill>
              <a:srgbClr val="FF8F00"/>
            </a:solidFill>
            <a:prstDash val="solid"/>
          </a:ln>
        </p:spPr>
      </p:sp>
      <p:sp>
        <p:nvSpPr>
          <p:cNvPr id="19" name="Text 17"/>
          <p:cNvSpPr/>
          <p:nvPr/>
        </p:nvSpPr>
        <p:spPr>
          <a:xfrm>
            <a:off x="5074920" y="1664208"/>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0" name="Text 18"/>
          <p:cNvSpPr/>
          <p:nvPr/>
        </p:nvSpPr>
        <p:spPr>
          <a:xfrm>
            <a:off x="5989320" y="1691640"/>
            <a:ext cx="2651760" cy="411480"/>
          </a:xfrm>
          <a:prstGeom prst="rect">
            <a:avLst/>
          </a:prstGeom>
          <a:noFill/>
          <a:ln/>
        </p:spPr>
        <p:txBody>
          <a:bodyPr wrap="square" rtlCol="0" anchor="ctr"/>
          <a:lstStyle/>
          <a:p>
            <a:pPr algn="l" indent="0" marL="0">
              <a:buNone/>
            </a:pPr>
            <a:r>
              <a:rPr lang="en-US" sz="1600" b="1" dirty="0">
                <a:solidFill>
                  <a:srgbClr val="E65100"/>
                </a:solidFill>
                <a:latin typeface="Arial" pitchFamily="34" charset="0"/>
                <a:ea typeface="Arial" pitchFamily="34" charset="-122"/>
                <a:cs typeface="Arial" pitchFamily="34" charset="-120"/>
              </a:rPr>
              <a:t>Oil / Petrol</a:t>
            </a:r>
            <a:endParaRPr lang="en-US" sz="1600" dirty="0"/>
          </a:p>
        </p:txBody>
      </p:sp>
      <p:sp>
        <p:nvSpPr>
          <p:cNvPr id="21" name="Text 19"/>
          <p:cNvSpPr/>
          <p:nvPr/>
        </p:nvSpPr>
        <p:spPr>
          <a:xfrm>
            <a:off x="5989320" y="2103120"/>
            <a:ext cx="2651760" cy="365760"/>
          </a:xfrm>
          <a:prstGeom prst="rect">
            <a:avLst/>
          </a:prstGeom>
          <a:noFill/>
          <a:ln/>
        </p:spPr>
        <p:txBody>
          <a:bodyPr wrap="square" rtlCol="0" anchor="ctr"/>
          <a:lstStyle/>
          <a:p>
            <a:pPr algn="l" indent="0" marL="0">
              <a:buNone/>
            </a:pPr>
            <a:r>
              <a:rPr lang="en-US" sz="1200" dirty="0">
                <a:solidFill>
                  <a:srgbClr val="795548"/>
                </a:solidFill>
                <a:latin typeface="Arial" pitchFamily="34" charset="0"/>
                <a:ea typeface="Arial" pitchFamily="34" charset="-122"/>
                <a:cs typeface="Arial" pitchFamily="34" charset="-120"/>
              </a:rPr>
              <a:t>Fossil fuel from underground 🌍</a:t>
            </a:r>
            <a:endParaRPr lang="en-US" sz="1200" dirty="0"/>
          </a:p>
        </p:txBody>
      </p:sp>
      <p:sp>
        <p:nvSpPr>
          <p:cNvPr id="22" name="Shape 20"/>
          <p:cNvSpPr/>
          <p:nvPr/>
        </p:nvSpPr>
        <p:spPr>
          <a:xfrm>
            <a:off x="4983480" y="2743200"/>
            <a:ext cx="3749040" cy="1051560"/>
          </a:xfrm>
          <a:prstGeom prst="roundRect">
            <a:avLst>
              <a:gd name="adj" fmla="val 13043"/>
            </a:avLst>
          </a:prstGeom>
          <a:solidFill>
            <a:srgbClr val="EEEEEE"/>
          </a:solidFill>
          <a:ln w="25400">
            <a:solidFill>
              <a:srgbClr val="616161"/>
            </a:solidFill>
            <a:prstDash val="solid"/>
          </a:ln>
        </p:spPr>
      </p:sp>
      <p:sp>
        <p:nvSpPr>
          <p:cNvPr id="23" name="Text 21"/>
          <p:cNvSpPr/>
          <p:nvPr/>
        </p:nvSpPr>
        <p:spPr>
          <a:xfrm>
            <a:off x="5074920" y="2807208"/>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4" name="Text 22"/>
          <p:cNvSpPr/>
          <p:nvPr/>
        </p:nvSpPr>
        <p:spPr>
          <a:xfrm>
            <a:off x="5989320" y="2834640"/>
            <a:ext cx="2651760" cy="411480"/>
          </a:xfrm>
          <a:prstGeom prst="rect">
            <a:avLst/>
          </a:prstGeom>
          <a:noFill/>
          <a:ln/>
        </p:spPr>
        <p:txBody>
          <a:bodyPr wrap="square" rtlCol="0" anchor="ctr"/>
          <a:lstStyle/>
          <a:p>
            <a:pPr algn="l" indent="0" marL="0">
              <a:buNone/>
            </a:pPr>
            <a:r>
              <a:rPr lang="en-US" sz="1600" b="1" dirty="0">
                <a:solidFill>
                  <a:srgbClr val="424242"/>
                </a:solidFill>
                <a:latin typeface="Arial" pitchFamily="34" charset="0"/>
                <a:ea typeface="Arial" pitchFamily="34" charset="-122"/>
                <a:cs typeface="Arial" pitchFamily="34" charset="-120"/>
              </a:rPr>
              <a:t>Coal</a:t>
            </a:r>
            <a:endParaRPr lang="en-US" sz="1600" dirty="0"/>
          </a:p>
        </p:txBody>
      </p:sp>
      <p:sp>
        <p:nvSpPr>
          <p:cNvPr id="25" name="Text 23"/>
          <p:cNvSpPr/>
          <p:nvPr/>
        </p:nvSpPr>
        <p:spPr>
          <a:xfrm>
            <a:off x="5989320" y="3246120"/>
            <a:ext cx="2651760" cy="365760"/>
          </a:xfrm>
          <a:prstGeom prst="rect">
            <a:avLst/>
          </a:prstGeom>
          <a:noFill/>
          <a:ln/>
        </p:spPr>
        <p:txBody>
          <a:bodyPr wrap="square" rtlCol="0" anchor="ctr"/>
          <a:lstStyle/>
          <a:p>
            <a:pPr algn="l" indent="0" marL="0">
              <a:buNone/>
            </a:pPr>
            <a:r>
              <a:rPr lang="en-US" sz="1200" dirty="0">
                <a:solidFill>
                  <a:srgbClr val="795548"/>
                </a:solidFill>
                <a:latin typeface="Arial" pitchFamily="34" charset="0"/>
                <a:ea typeface="Arial" pitchFamily="34" charset="-122"/>
                <a:cs typeface="Arial" pitchFamily="34" charset="-120"/>
              </a:rPr>
              <a:t>Burnt to make electricity 🏭</a:t>
            </a:r>
            <a:endParaRPr lang="en-US" sz="1200" dirty="0"/>
          </a:p>
        </p:txBody>
      </p:sp>
      <p:sp>
        <p:nvSpPr>
          <p:cNvPr id="26" name="Shape 24"/>
          <p:cNvSpPr/>
          <p:nvPr/>
        </p:nvSpPr>
        <p:spPr>
          <a:xfrm>
            <a:off x="182880" y="4553712"/>
            <a:ext cx="8778240" cy="384048"/>
          </a:xfrm>
          <a:prstGeom prst="roundRect">
            <a:avLst>
              <a:gd name="adj" fmla="val 23810"/>
            </a:avLst>
          </a:prstGeom>
          <a:solidFill>
            <a:srgbClr val="E3F2FD"/>
          </a:solidFill>
          <a:ln w="12700">
            <a:solidFill>
              <a:srgbClr val="42A5F5"/>
            </a:solidFill>
            <a:prstDash val="solid"/>
          </a:ln>
        </p:spPr>
      </p:sp>
      <p:sp>
        <p:nvSpPr>
          <p:cNvPr id="27" name="Text 25"/>
          <p:cNvSpPr/>
          <p:nvPr/>
        </p:nvSpPr>
        <p:spPr>
          <a:xfrm>
            <a:off x="365760" y="4553712"/>
            <a:ext cx="8412480" cy="384048"/>
          </a:xfrm>
          <a:prstGeom prst="rect">
            <a:avLst/>
          </a:prstGeom>
          <a:noFill/>
          <a:ln/>
        </p:spPr>
        <p:txBody>
          <a:bodyPr wrap="square" rtlCol="0" anchor="ctr"/>
          <a:lstStyle/>
          <a:p>
            <a:pPr algn="ctr" indent="0" marL="0">
              <a:buNone/>
            </a:pPr>
            <a:r>
              <a:rPr lang="en-US" sz="1200" b="1" dirty="0">
                <a:solidFill>
                  <a:srgbClr val="0D47A1"/>
                </a:solidFill>
                <a:latin typeface="Arial" pitchFamily="34" charset="0"/>
                <a:ea typeface="Arial" pitchFamily="34" charset="-122"/>
                <a:cs typeface="Arial" pitchFamily="34" charset="-120"/>
              </a:rPr>
              <a:t>💡  Tip: Renewable = forever!  🌱  Non-Renewable = will run out one day!</a:t>
            </a:r>
            <a:endParaRPr lang="en-US" sz="1200" dirty="0"/>
          </a:p>
        </p:txBody>
      </p:sp>
      <p:sp>
        <p:nvSpPr>
          <p:cNvPr id="28" name="Shape 26"/>
          <p:cNvSpPr/>
          <p:nvPr/>
        </p:nvSpPr>
        <p:spPr>
          <a:xfrm>
            <a:off x="8503920" y="4663440"/>
            <a:ext cx="365760" cy="365760"/>
          </a:xfrm>
          <a:prstGeom prst="ellipse">
            <a:avLst/>
          </a:prstGeom>
          <a:solidFill>
            <a:srgbClr val="E65100"/>
          </a:solidFill>
          <a:ln w="12700">
            <a:solidFill>
              <a:srgbClr val="E65100"/>
            </a:solidFill>
            <a:prstDash val="solid"/>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EF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274320" y="0"/>
            <a:ext cx="8595360"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Q3 &amp; Q4: Advantages &amp; Disadvantages ⚖️</a:t>
            </a:r>
            <a:endParaRPr lang="en-US" sz="2200" dirty="0"/>
          </a:p>
        </p:txBody>
      </p:sp>
      <p:sp>
        <p:nvSpPr>
          <p:cNvPr id="4" name="Shape 2"/>
          <p:cNvSpPr/>
          <p:nvPr/>
        </p:nvSpPr>
        <p:spPr>
          <a:xfrm>
            <a:off x="182880" y="868680"/>
            <a:ext cx="4206240" cy="4069080"/>
          </a:xfrm>
          <a:prstGeom prst="roundRect">
            <a:avLst>
              <a:gd name="adj" fmla="val 4494"/>
            </a:avLst>
          </a:prstGeom>
          <a:solidFill>
            <a:srgbClr val="F1F8E9"/>
          </a:solidFill>
          <a:ln w="38100">
            <a:solidFill>
              <a:srgbClr val="7CB342"/>
            </a:solidFill>
            <a:prstDash val="solid"/>
          </a:ln>
        </p:spPr>
      </p:sp>
      <p:sp>
        <p:nvSpPr>
          <p:cNvPr id="5" name="Shape 3"/>
          <p:cNvSpPr/>
          <p:nvPr/>
        </p:nvSpPr>
        <p:spPr>
          <a:xfrm>
            <a:off x="182880" y="868680"/>
            <a:ext cx="4206240" cy="594360"/>
          </a:xfrm>
          <a:prstGeom prst="roundRect">
            <a:avLst>
              <a:gd name="adj" fmla="val 23077"/>
            </a:avLst>
          </a:prstGeom>
          <a:solidFill>
            <a:srgbClr val="7CB342"/>
          </a:solidFill>
          <a:ln w="12700">
            <a:solidFill>
              <a:srgbClr val="7CB342"/>
            </a:solidFill>
            <a:prstDash val="solid"/>
          </a:ln>
        </p:spPr>
      </p:sp>
      <p:sp>
        <p:nvSpPr>
          <p:cNvPr id="6" name="Text 4"/>
          <p:cNvSpPr/>
          <p:nvPr/>
        </p:nvSpPr>
        <p:spPr>
          <a:xfrm>
            <a:off x="182880" y="868680"/>
            <a:ext cx="4206240" cy="5943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Advantages of Renewable Energy</a:t>
            </a:r>
            <a:endParaRPr lang="en-US" sz="1400" dirty="0"/>
          </a:p>
        </p:txBody>
      </p:sp>
      <p:sp>
        <p:nvSpPr>
          <p:cNvPr id="7" name="Shape 5"/>
          <p:cNvSpPr/>
          <p:nvPr/>
        </p:nvSpPr>
        <p:spPr>
          <a:xfrm>
            <a:off x="365760" y="1554480"/>
            <a:ext cx="3840480" cy="868680"/>
          </a:xfrm>
          <a:prstGeom prst="roundRect">
            <a:avLst>
              <a:gd name="adj" fmla="val 12632"/>
            </a:avLst>
          </a:prstGeom>
          <a:solidFill>
            <a:srgbClr val="FFFFFF"/>
          </a:solidFill>
          <a:ln w="25400">
            <a:solidFill>
              <a:srgbClr val="AED581"/>
            </a:solidFill>
            <a:prstDash val="solid"/>
          </a:ln>
        </p:spPr>
      </p:sp>
      <p:sp>
        <p:nvSpPr>
          <p:cNvPr id="8" name="Text 6"/>
          <p:cNvSpPr/>
          <p:nvPr/>
        </p:nvSpPr>
        <p:spPr>
          <a:xfrm>
            <a:off x="457200" y="164592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1234440" y="1600200"/>
            <a:ext cx="2834640" cy="347472"/>
          </a:xfrm>
          <a:prstGeom prst="rect">
            <a:avLst/>
          </a:prstGeom>
          <a:noFill/>
          <a:ln/>
        </p:spPr>
        <p:txBody>
          <a:bodyPr wrap="square" rtlCol="0" anchor="ctr"/>
          <a:lstStyle/>
          <a:p>
            <a:pPr algn="l" indent="0" marL="0">
              <a:buNone/>
            </a:pPr>
            <a:r>
              <a:rPr lang="en-US" sz="1400" b="1" dirty="0">
                <a:solidFill>
                  <a:srgbClr val="33691E"/>
                </a:solidFill>
                <a:latin typeface="Arial" pitchFamily="34" charset="0"/>
                <a:ea typeface="Arial" pitchFamily="34" charset="-122"/>
                <a:cs typeface="Arial" pitchFamily="34" charset="-120"/>
              </a:rPr>
              <a:t>1. Clean Energy</a:t>
            </a:r>
            <a:endParaRPr lang="en-US" sz="1400" dirty="0"/>
          </a:p>
        </p:txBody>
      </p:sp>
      <p:sp>
        <p:nvSpPr>
          <p:cNvPr id="10" name="Text 8"/>
          <p:cNvSpPr/>
          <p:nvPr/>
        </p:nvSpPr>
        <p:spPr>
          <a:xfrm>
            <a:off x="1234440" y="1965960"/>
            <a:ext cx="2834640" cy="347472"/>
          </a:xfrm>
          <a:prstGeom prst="rect">
            <a:avLst/>
          </a:prstGeom>
          <a:noFill/>
          <a:ln/>
        </p:spPr>
        <p:txBody>
          <a:bodyPr wrap="square" rtlCol="0" anchor="ctr"/>
          <a:lstStyle/>
          <a:p>
            <a:pPr algn="l" indent="0" marL="0">
              <a:buNone/>
            </a:pPr>
            <a:r>
              <a:rPr lang="en-US" sz="1200" dirty="0">
                <a:solidFill>
                  <a:srgbClr val="558B2F"/>
                </a:solidFill>
                <a:latin typeface="Arial" pitchFamily="34" charset="0"/>
                <a:ea typeface="Arial" pitchFamily="34" charset="-122"/>
                <a:cs typeface="Arial" pitchFamily="34" charset="-120"/>
              </a:rPr>
              <a:t>Does not pollute the air</a:t>
            </a:r>
            <a:endParaRPr lang="en-US" sz="1200" dirty="0"/>
          </a:p>
        </p:txBody>
      </p:sp>
      <p:sp>
        <p:nvSpPr>
          <p:cNvPr id="11" name="Shape 9"/>
          <p:cNvSpPr/>
          <p:nvPr/>
        </p:nvSpPr>
        <p:spPr>
          <a:xfrm>
            <a:off x="365760" y="2560320"/>
            <a:ext cx="3840480" cy="868680"/>
          </a:xfrm>
          <a:prstGeom prst="roundRect">
            <a:avLst>
              <a:gd name="adj" fmla="val 12632"/>
            </a:avLst>
          </a:prstGeom>
          <a:solidFill>
            <a:srgbClr val="FFFFFF"/>
          </a:solidFill>
          <a:ln w="25400">
            <a:solidFill>
              <a:srgbClr val="AED581"/>
            </a:solidFill>
            <a:prstDash val="solid"/>
          </a:ln>
        </p:spPr>
      </p:sp>
      <p:sp>
        <p:nvSpPr>
          <p:cNvPr id="12" name="Text 10"/>
          <p:cNvSpPr/>
          <p:nvPr/>
        </p:nvSpPr>
        <p:spPr>
          <a:xfrm>
            <a:off x="457200" y="265176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1234440" y="2606040"/>
            <a:ext cx="2834640" cy="347472"/>
          </a:xfrm>
          <a:prstGeom prst="rect">
            <a:avLst/>
          </a:prstGeom>
          <a:noFill/>
          <a:ln/>
        </p:spPr>
        <p:txBody>
          <a:bodyPr wrap="square" rtlCol="0" anchor="ctr"/>
          <a:lstStyle/>
          <a:p>
            <a:pPr algn="l" indent="0" marL="0">
              <a:buNone/>
            </a:pPr>
            <a:r>
              <a:rPr lang="en-US" sz="1400" b="1" dirty="0">
                <a:solidFill>
                  <a:srgbClr val="33691E"/>
                </a:solidFill>
                <a:latin typeface="Arial" pitchFamily="34" charset="0"/>
                <a:ea typeface="Arial" pitchFamily="34" charset="-122"/>
                <a:cs typeface="Arial" pitchFamily="34" charset="-120"/>
              </a:rPr>
              <a:t>2. Endless Supply</a:t>
            </a:r>
            <a:endParaRPr lang="en-US" sz="1400" dirty="0"/>
          </a:p>
        </p:txBody>
      </p:sp>
      <p:sp>
        <p:nvSpPr>
          <p:cNvPr id="14" name="Text 12"/>
          <p:cNvSpPr/>
          <p:nvPr/>
        </p:nvSpPr>
        <p:spPr>
          <a:xfrm>
            <a:off x="1234440" y="2971800"/>
            <a:ext cx="2834640" cy="347472"/>
          </a:xfrm>
          <a:prstGeom prst="rect">
            <a:avLst/>
          </a:prstGeom>
          <a:noFill/>
          <a:ln/>
        </p:spPr>
        <p:txBody>
          <a:bodyPr wrap="square" rtlCol="0" anchor="ctr"/>
          <a:lstStyle/>
          <a:p>
            <a:pPr algn="l" indent="0" marL="0">
              <a:buNone/>
            </a:pPr>
            <a:r>
              <a:rPr lang="en-US" sz="1200" dirty="0">
                <a:solidFill>
                  <a:srgbClr val="558B2F"/>
                </a:solidFill>
                <a:latin typeface="Arial" pitchFamily="34" charset="0"/>
                <a:ea typeface="Arial" pitchFamily="34" charset="-122"/>
                <a:cs typeface="Arial" pitchFamily="34" charset="-120"/>
              </a:rPr>
              <a:t>Will never run out</a:t>
            </a:r>
            <a:endParaRPr lang="en-US" sz="1200" dirty="0"/>
          </a:p>
        </p:txBody>
      </p:sp>
      <p:sp>
        <p:nvSpPr>
          <p:cNvPr id="15" name="Shape 13"/>
          <p:cNvSpPr/>
          <p:nvPr/>
        </p:nvSpPr>
        <p:spPr>
          <a:xfrm>
            <a:off x="365760" y="3566160"/>
            <a:ext cx="3840480" cy="868680"/>
          </a:xfrm>
          <a:prstGeom prst="roundRect">
            <a:avLst>
              <a:gd name="adj" fmla="val 12632"/>
            </a:avLst>
          </a:prstGeom>
          <a:solidFill>
            <a:srgbClr val="FFFFFF"/>
          </a:solidFill>
          <a:ln w="25400">
            <a:solidFill>
              <a:srgbClr val="AED581"/>
            </a:solidFill>
            <a:prstDash val="solid"/>
          </a:ln>
        </p:spPr>
      </p:sp>
      <p:sp>
        <p:nvSpPr>
          <p:cNvPr id="16" name="Text 14"/>
          <p:cNvSpPr/>
          <p:nvPr/>
        </p:nvSpPr>
        <p:spPr>
          <a:xfrm>
            <a:off x="457200" y="365760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1234440" y="3611880"/>
            <a:ext cx="2834640" cy="347472"/>
          </a:xfrm>
          <a:prstGeom prst="rect">
            <a:avLst/>
          </a:prstGeom>
          <a:noFill/>
          <a:ln/>
        </p:spPr>
        <p:txBody>
          <a:bodyPr wrap="square" rtlCol="0" anchor="ctr"/>
          <a:lstStyle/>
          <a:p>
            <a:pPr algn="l" indent="0" marL="0">
              <a:buNone/>
            </a:pPr>
            <a:r>
              <a:rPr lang="en-US" sz="1400" b="1" dirty="0">
                <a:solidFill>
                  <a:srgbClr val="33691E"/>
                </a:solidFill>
                <a:latin typeface="Arial" pitchFamily="34" charset="0"/>
                <a:ea typeface="Arial" pitchFamily="34" charset="-122"/>
                <a:cs typeface="Arial" pitchFamily="34" charset="-120"/>
              </a:rPr>
              <a:t>3. Saves Money</a:t>
            </a:r>
            <a:endParaRPr lang="en-US" sz="1400" dirty="0"/>
          </a:p>
        </p:txBody>
      </p:sp>
      <p:sp>
        <p:nvSpPr>
          <p:cNvPr id="18" name="Text 16"/>
          <p:cNvSpPr/>
          <p:nvPr/>
        </p:nvSpPr>
        <p:spPr>
          <a:xfrm>
            <a:off x="1234440" y="3977640"/>
            <a:ext cx="2834640" cy="347472"/>
          </a:xfrm>
          <a:prstGeom prst="rect">
            <a:avLst/>
          </a:prstGeom>
          <a:noFill/>
          <a:ln/>
        </p:spPr>
        <p:txBody>
          <a:bodyPr wrap="square" rtlCol="0" anchor="ctr"/>
          <a:lstStyle/>
          <a:p>
            <a:pPr algn="l" indent="0" marL="0">
              <a:buNone/>
            </a:pPr>
            <a:r>
              <a:rPr lang="en-US" sz="1200" dirty="0">
                <a:solidFill>
                  <a:srgbClr val="558B2F"/>
                </a:solidFill>
                <a:latin typeface="Arial" pitchFamily="34" charset="0"/>
                <a:ea typeface="Arial" pitchFamily="34" charset="-122"/>
                <a:cs typeface="Arial" pitchFamily="34" charset="-120"/>
              </a:rPr>
              <a:t>Cheaper in the long run</a:t>
            </a:r>
            <a:endParaRPr lang="en-US" sz="1200" dirty="0"/>
          </a:p>
        </p:txBody>
      </p:sp>
      <p:sp>
        <p:nvSpPr>
          <p:cNvPr id="19" name="Text 17"/>
          <p:cNvSpPr/>
          <p:nvPr/>
        </p:nvSpPr>
        <p:spPr>
          <a:xfrm>
            <a:off x="365760" y="4480560"/>
            <a:ext cx="3840480" cy="365760"/>
          </a:xfrm>
          <a:prstGeom prst="rect">
            <a:avLst/>
          </a:prstGeom>
          <a:noFill/>
          <a:ln/>
        </p:spPr>
        <p:txBody>
          <a:bodyPr wrap="square" rtlCol="0" anchor="ctr"/>
          <a:lstStyle/>
          <a:p>
            <a:pPr algn="ctr" indent="0" marL="0">
              <a:buNone/>
            </a:pPr>
            <a:r>
              <a:rPr lang="en-US" sz="2000" dirty="0">
                <a:solidFill>
                  <a:srgbClr val="000000"/>
                </a:solidFill>
              </a:rPr>
              <a:t>🌍  😊  🌤️</a:t>
            </a:r>
            <a:endParaRPr lang="en-US" sz="2000" dirty="0"/>
          </a:p>
        </p:txBody>
      </p:sp>
      <p:sp>
        <p:nvSpPr>
          <p:cNvPr id="20" name="Shape 18"/>
          <p:cNvSpPr/>
          <p:nvPr/>
        </p:nvSpPr>
        <p:spPr>
          <a:xfrm>
            <a:off x="4754880" y="868680"/>
            <a:ext cx="4206240" cy="4069080"/>
          </a:xfrm>
          <a:prstGeom prst="roundRect">
            <a:avLst>
              <a:gd name="adj" fmla="val 4494"/>
            </a:avLst>
          </a:prstGeom>
          <a:solidFill>
            <a:srgbClr val="FFF3E0"/>
          </a:solidFill>
          <a:ln w="38100">
            <a:solidFill>
              <a:srgbClr val="EF6C00"/>
            </a:solidFill>
            <a:prstDash val="solid"/>
          </a:ln>
        </p:spPr>
      </p:sp>
      <p:sp>
        <p:nvSpPr>
          <p:cNvPr id="21" name="Shape 19"/>
          <p:cNvSpPr/>
          <p:nvPr/>
        </p:nvSpPr>
        <p:spPr>
          <a:xfrm>
            <a:off x="4754880" y="868680"/>
            <a:ext cx="4206240" cy="594360"/>
          </a:xfrm>
          <a:prstGeom prst="roundRect">
            <a:avLst>
              <a:gd name="adj" fmla="val 23077"/>
            </a:avLst>
          </a:prstGeom>
          <a:solidFill>
            <a:srgbClr val="E53935"/>
          </a:solidFill>
          <a:ln w="12700">
            <a:solidFill>
              <a:srgbClr val="E53935"/>
            </a:solidFill>
            <a:prstDash val="solid"/>
          </a:ln>
        </p:spPr>
      </p:sp>
      <p:sp>
        <p:nvSpPr>
          <p:cNvPr id="22" name="Text 20"/>
          <p:cNvSpPr/>
          <p:nvPr/>
        </p:nvSpPr>
        <p:spPr>
          <a:xfrm>
            <a:off x="4754880" y="868680"/>
            <a:ext cx="4206240" cy="5943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Disadvantages of Non-Renewable</a:t>
            </a:r>
            <a:endParaRPr lang="en-US" sz="1400" dirty="0"/>
          </a:p>
        </p:txBody>
      </p:sp>
      <p:sp>
        <p:nvSpPr>
          <p:cNvPr id="23" name="Shape 21"/>
          <p:cNvSpPr/>
          <p:nvPr/>
        </p:nvSpPr>
        <p:spPr>
          <a:xfrm>
            <a:off x="4937760" y="1554480"/>
            <a:ext cx="3840480" cy="868680"/>
          </a:xfrm>
          <a:prstGeom prst="roundRect">
            <a:avLst>
              <a:gd name="adj" fmla="val 12632"/>
            </a:avLst>
          </a:prstGeom>
          <a:solidFill>
            <a:srgbClr val="FFFFFF"/>
          </a:solidFill>
          <a:ln w="25400">
            <a:solidFill>
              <a:srgbClr val="EF9A9A"/>
            </a:solidFill>
            <a:prstDash val="solid"/>
          </a:ln>
        </p:spPr>
      </p:sp>
      <p:sp>
        <p:nvSpPr>
          <p:cNvPr id="24" name="Text 22"/>
          <p:cNvSpPr/>
          <p:nvPr/>
        </p:nvSpPr>
        <p:spPr>
          <a:xfrm>
            <a:off x="5029200" y="164592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5" name="Text 23"/>
          <p:cNvSpPr/>
          <p:nvPr/>
        </p:nvSpPr>
        <p:spPr>
          <a:xfrm>
            <a:off x="5806440" y="1600200"/>
            <a:ext cx="2834640" cy="347472"/>
          </a:xfrm>
          <a:prstGeom prst="rect">
            <a:avLst/>
          </a:prstGeom>
          <a:noFill/>
          <a:ln/>
        </p:spPr>
        <p:txBody>
          <a:bodyPr wrap="square" rtlCol="0" anchor="ctr"/>
          <a:lstStyle/>
          <a:p>
            <a:pPr algn="l" indent="0" marL="0">
              <a:buNone/>
            </a:pPr>
            <a:r>
              <a:rPr lang="en-US" sz="1400" b="1" dirty="0">
                <a:solidFill>
                  <a:srgbClr val="B71C1C"/>
                </a:solidFill>
                <a:latin typeface="Arial" pitchFamily="34" charset="0"/>
                <a:ea typeface="Arial" pitchFamily="34" charset="-122"/>
                <a:cs typeface="Arial" pitchFamily="34" charset="-120"/>
              </a:rPr>
              <a:t>1. Air Pollution</a:t>
            </a:r>
            <a:endParaRPr lang="en-US" sz="1400" dirty="0"/>
          </a:p>
        </p:txBody>
      </p:sp>
      <p:sp>
        <p:nvSpPr>
          <p:cNvPr id="26" name="Text 24"/>
          <p:cNvSpPr/>
          <p:nvPr/>
        </p:nvSpPr>
        <p:spPr>
          <a:xfrm>
            <a:off x="5806440" y="1965960"/>
            <a:ext cx="2834640" cy="347472"/>
          </a:xfrm>
          <a:prstGeom prst="rect">
            <a:avLst/>
          </a:prstGeom>
          <a:noFill/>
          <a:ln/>
        </p:spPr>
        <p:txBody>
          <a:bodyPr wrap="square" rtlCol="0" anchor="ctr"/>
          <a:lstStyle/>
          <a:p>
            <a:pPr algn="l" indent="0" marL="0">
              <a:buNone/>
            </a:pPr>
            <a:r>
              <a:rPr lang="en-US" sz="1200" dirty="0">
                <a:solidFill>
                  <a:srgbClr val="C62828"/>
                </a:solidFill>
                <a:latin typeface="Arial" pitchFamily="34" charset="0"/>
                <a:ea typeface="Arial" pitchFamily="34" charset="-122"/>
                <a:cs typeface="Arial" pitchFamily="34" charset="-120"/>
              </a:rPr>
              <a:t>Causes pollution &amp; global warming</a:t>
            </a:r>
            <a:endParaRPr lang="en-US" sz="1200" dirty="0"/>
          </a:p>
        </p:txBody>
      </p:sp>
      <p:sp>
        <p:nvSpPr>
          <p:cNvPr id="27" name="Shape 25"/>
          <p:cNvSpPr/>
          <p:nvPr/>
        </p:nvSpPr>
        <p:spPr>
          <a:xfrm>
            <a:off x="4937760" y="2560320"/>
            <a:ext cx="3840480" cy="868680"/>
          </a:xfrm>
          <a:prstGeom prst="roundRect">
            <a:avLst>
              <a:gd name="adj" fmla="val 12632"/>
            </a:avLst>
          </a:prstGeom>
          <a:solidFill>
            <a:srgbClr val="FFFFFF"/>
          </a:solidFill>
          <a:ln w="25400">
            <a:solidFill>
              <a:srgbClr val="EF9A9A"/>
            </a:solidFill>
            <a:prstDash val="solid"/>
          </a:ln>
        </p:spPr>
      </p:sp>
      <p:sp>
        <p:nvSpPr>
          <p:cNvPr id="28" name="Text 26"/>
          <p:cNvSpPr/>
          <p:nvPr/>
        </p:nvSpPr>
        <p:spPr>
          <a:xfrm>
            <a:off x="5029200" y="265176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9" name="Text 27"/>
          <p:cNvSpPr/>
          <p:nvPr/>
        </p:nvSpPr>
        <p:spPr>
          <a:xfrm>
            <a:off x="5806440" y="2606040"/>
            <a:ext cx="2834640" cy="347472"/>
          </a:xfrm>
          <a:prstGeom prst="rect">
            <a:avLst/>
          </a:prstGeom>
          <a:noFill/>
          <a:ln/>
        </p:spPr>
        <p:txBody>
          <a:bodyPr wrap="square" rtlCol="0" anchor="ctr"/>
          <a:lstStyle/>
          <a:p>
            <a:pPr algn="l" indent="0" marL="0">
              <a:buNone/>
            </a:pPr>
            <a:r>
              <a:rPr lang="en-US" sz="1400" b="1" dirty="0">
                <a:solidFill>
                  <a:srgbClr val="B71C1C"/>
                </a:solidFill>
                <a:latin typeface="Arial" pitchFamily="34" charset="0"/>
                <a:ea typeface="Arial" pitchFamily="34" charset="-122"/>
                <a:cs typeface="Arial" pitchFamily="34" charset="-120"/>
              </a:rPr>
              <a:t>2. Will Run Out</a:t>
            </a:r>
            <a:endParaRPr lang="en-US" sz="1400" dirty="0"/>
          </a:p>
        </p:txBody>
      </p:sp>
      <p:sp>
        <p:nvSpPr>
          <p:cNvPr id="30" name="Text 28"/>
          <p:cNvSpPr/>
          <p:nvPr/>
        </p:nvSpPr>
        <p:spPr>
          <a:xfrm>
            <a:off x="5806440" y="2971800"/>
            <a:ext cx="2834640" cy="347472"/>
          </a:xfrm>
          <a:prstGeom prst="rect">
            <a:avLst/>
          </a:prstGeom>
          <a:noFill/>
          <a:ln/>
        </p:spPr>
        <p:txBody>
          <a:bodyPr wrap="square" rtlCol="0" anchor="ctr"/>
          <a:lstStyle/>
          <a:p>
            <a:pPr algn="l" indent="0" marL="0">
              <a:buNone/>
            </a:pPr>
            <a:r>
              <a:rPr lang="en-US" sz="1200" dirty="0">
                <a:solidFill>
                  <a:srgbClr val="C62828"/>
                </a:solidFill>
                <a:latin typeface="Arial" pitchFamily="34" charset="0"/>
                <a:ea typeface="Arial" pitchFamily="34" charset="-122"/>
                <a:cs typeface="Arial" pitchFamily="34" charset="-120"/>
              </a:rPr>
              <a:t>Supply is limited on Earth</a:t>
            </a:r>
            <a:endParaRPr lang="en-US" sz="1200" dirty="0"/>
          </a:p>
        </p:txBody>
      </p:sp>
      <p:sp>
        <p:nvSpPr>
          <p:cNvPr id="31" name="Shape 29"/>
          <p:cNvSpPr/>
          <p:nvPr/>
        </p:nvSpPr>
        <p:spPr>
          <a:xfrm>
            <a:off x="4937760" y="3566160"/>
            <a:ext cx="3840480" cy="868680"/>
          </a:xfrm>
          <a:prstGeom prst="roundRect">
            <a:avLst>
              <a:gd name="adj" fmla="val 12632"/>
            </a:avLst>
          </a:prstGeom>
          <a:solidFill>
            <a:srgbClr val="FFFFFF"/>
          </a:solidFill>
          <a:ln w="25400">
            <a:solidFill>
              <a:srgbClr val="EF9A9A"/>
            </a:solidFill>
            <a:prstDash val="solid"/>
          </a:ln>
        </p:spPr>
      </p:sp>
      <p:sp>
        <p:nvSpPr>
          <p:cNvPr id="32" name="Text 30"/>
          <p:cNvSpPr/>
          <p:nvPr/>
        </p:nvSpPr>
        <p:spPr>
          <a:xfrm>
            <a:off x="5029200" y="365760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3" name="Text 31"/>
          <p:cNvSpPr/>
          <p:nvPr/>
        </p:nvSpPr>
        <p:spPr>
          <a:xfrm>
            <a:off x="5806440" y="3611880"/>
            <a:ext cx="2834640" cy="347472"/>
          </a:xfrm>
          <a:prstGeom prst="rect">
            <a:avLst/>
          </a:prstGeom>
          <a:noFill/>
          <a:ln/>
        </p:spPr>
        <p:txBody>
          <a:bodyPr wrap="square" rtlCol="0" anchor="ctr"/>
          <a:lstStyle/>
          <a:p>
            <a:pPr algn="l" indent="0" marL="0">
              <a:buNone/>
            </a:pPr>
            <a:r>
              <a:rPr lang="en-US" sz="1400" b="1" dirty="0">
                <a:solidFill>
                  <a:srgbClr val="B71C1C"/>
                </a:solidFill>
                <a:latin typeface="Arial" pitchFamily="34" charset="0"/>
                <a:ea typeface="Arial" pitchFamily="34" charset="-122"/>
                <a:cs typeface="Arial" pitchFamily="34" charset="-120"/>
              </a:rPr>
              <a:t>3. Harms Nature</a:t>
            </a:r>
            <a:endParaRPr lang="en-US" sz="1400" dirty="0"/>
          </a:p>
        </p:txBody>
      </p:sp>
      <p:sp>
        <p:nvSpPr>
          <p:cNvPr id="34" name="Text 32"/>
          <p:cNvSpPr/>
          <p:nvPr/>
        </p:nvSpPr>
        <p:spPr>
          <a:xfrm>
            <a:off x="5806440" y="3977640"/>
            <a:ext cx="2834640" cy="347472"/>
          </a:xfrm>
          <a:prstGeom prst="rect">
            <a:avLst/>
          </a:prstGeom>
          <a:noFill/>
          <a:ln/>
        </p:spPr>
        <p:txBody>
          <a:bodyPr wrap="square" rtlCol="0" anchor="ctr"/>
          <a:lstStyle/>
          <a:p>
            <a:pPr algn="l" indent="0" marL="0">
              <a:buNone/>
            </a:pPr>
            <a:r>
              <a:rPr lang="en-US" sz="1200" dirty="0">
                <a:solidFill>
                  <a:srgbClr val="C62828"/>
                </a:solidFill>
                <a:latin typeface="Arial" pitchFamily="34" charset="0"/>
                <a:ea typeface="Arial" pitchFamily="34" charset="-122"/>
                <a:cs typeface="Arial" pitchFamily="34" charset="-120"/>
              </a:rPr>
              <a:t>Mining damages wildlife &amp; habitat</a:t>
            </a:r>
            <a:endParaRPr lang="en-US" sz="1200" dirty="0"/>
          </a:p>
        </p:txBody>
      </p:sp>
      <p:sp>
        <p:nvSpPr>
          <p:cNvPr id="35" name="Text 33"/>
          <p:cNvSpPr/>
          <p:nvPr/>
        </p:nvSpPr>
        <p:spPr>
          <a:xfrm>
            <a:off x="4937760" y="4480560"/>
            <a:ext cx="3840480" cy="365760"/>
          </a:xfrm>
          <a:prstGeom prst="rect">
            <a:avLst/>
          </a:prstGeom>
          <a:noFill/>
          <a:ln/>
        </p:spPr>
        <p:txBody>
          <a:bodyPr wrap="square" rtlCol="0" anchor="ctr"/>
          <a:lstStyle/>
          <a:p>
            <a:pPr algn="ctr" indent="0" marL="0">
              <a:buNone/>
            </a:pPr>
            <a:r>
              <a:rPr lang="en-US" sz="2000" dirty="0">
                <a:solidFill>
                  <a:srgbClr val="000000"/>
                </a:solidFill>
              </a:rPr>
              <a:t>🏭  💨  😢</a:t>
            </a:r>
            <a:endParaRPr lang="en-US" sz="2000" dirty="0"/>
          </a:p>
        </p:txBody>
      </p:sp>
      <p:sp>
        <p:nvSpPr>
          <p:cNvPr id="36" name="Shape 34"/>
          <p:cNvSpPr/>
          <p:nvPr/>
        </p:nvSpPr>
        <p:spPr>
          <a:xfrm>
            <a:off x="8503920" y="4663440"/>
            <a:ext cx="365760" cy="365760"/>
          </a:xfrm>
          <a:prstGeom prst="ellipse">
            <a:avLst/>
          </a:prstGeom>
          <a:solidFill>
            <a:srgbClr val="2E7D32"/>
          </a:solidFill>
          <a:ln w="12700">
            <a:solidFill>
              <a:srgbClr val="2E7D32"/>
            </a:solidFill>
            <a:prstDash val="solid"/>
          </a:ln>
        </p:spPr>
      </p:sp>
      <p:sp>
        <p:nvSpPr>
          <p:cNvPr id="37" name="Text 3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E7"/>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277BD"/>
          </a:solidFill>
          <a:ln w="12700">
            <a:solidFill>
              <a:srgbClr val="0277BD"/>
            </a:solidFill>
            <a:prstDash val="solid"/>
          </a:ln>
        </p:spPr>
      </p:sp>
      <p:sp>
        <p:nvSpPr>
          <p:cNvPr id="3" name="Text 1"/>
          <p:cNvSpPr/>
          <p:nvPr/>
        </p:nvSpPr>
        <p:spPr>
          <a:xfrm>
            <a:off x="274320" y="0"/>
            <a:ext cx="8595360" cy="7772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Q5: Best Energy for Our School</a:t>
            </a:r>
            <a:endParaRPr lang="en-US" sz="2400" dirty="0"/>
          </a:p>
        </p:txBody>
      </p:sp>
      <p:sp>
        <p:nvSpPr>
          <p:cNvPr id="4" name="Shape 2"/>
          <p:cNvSpPr/>
          <p:nvPr/>
        </p:nvSpPr>
        <p:spPr>
          <a:xfrm>
            <a:off x="2286000" y="868680"/>
            <a:ext cx="4572000" cy="594360"/>
          </a:xfrm>
          <a:prstGeom prst="roundRect">
            <a:avLst>
              <a:gd name="adj" fmla="val 30769"/>
            </a:avLst>
          </a:prstGeom>
          <a:solidFill>
            <a:srgbClr val="F57F17"/>
          </a:solidFill>
          <a:ln w="25400">
            <a:solidFill>
              <a:srgbClr val="E65100"/>
            </a:solidFill>
            <a:prstDash val="solid"/>
          </a:ln>
        </p:spPr>
      </p:sp>
      <p:sp>
        <p:nvSpPr>
          <p:cNvPr id="5" name="Text 3"/>
          <p:cNvSpPr/>
          <p:nvPr/>
        </p:nvSpPr>
        <p:spPr>
          <a:xfrm>
            <a:off x="2286000" y="868680"/>
            <a:ext cx="4572000" cy="5943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  My Choice: Solar Energy  ☀️</a:t>
            </a:r>
            <a:endParaRPr lang="en-US" sz="1800" dirty="0"/>
          </a:p>
        </p:txBody>
      </p:sp>
      <p:sp>
        <p:nvSpPr>
          <p:cNvPr id="6" name="Shape 4"/>
          <p:cNvSpPr/>
          <p:nvPr/>
        </p:nvSpPr>
        <p:spPr>
          <a:xfrm>
            <a:off x="228600" y="1600200"/>
            <a:ext cx="1600200" cy="1188720"/>
          </a:xfrm>
          <a:prstGeom prst="roundRect">
            <a:avLst>
              <a:gd name="adj" fmla="val 13846"/>
            </a:avLst>
          </a:prstGeom>
          <a:solidFill>
            <a:srgbClr val="E3F2FD"/>
          </a:solidFill>
          <a:ln w="25400">
            <a:solidFill>
              <a:srgbClr val="42A5F5"/>
            </a:solidFill>
            <a:prstDash val="solid"/>
          </a:ln>
        </p:spPr>
      </p:sp>
      <p:sp>
        <p:nvSpPr>
          <p:cNvPr id="7" name="Text 5"/>
          <p:cNvSpPr/>
          <p:nvPr/>
        </p:nvSpPr>
        <p:spPr>
          <a:xfrm>
            <a:off x="228600" y="1645920"/>
            <a:ext cx="160020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228600" y="2377440"/>
            <a:ext cx="1600200" cy="347472"/>
          </a:xfrm>
          <a:prstGeom prst="rect">
            <a:avLst/>
          </a:prstGeom>
          <a:noFill/>
          <a:ln/>
        </p:spPr>
        <p:txBody>
          <a:bodyPr wrap="square" rtlCol="0" anchor="ctr"/>
          <a:lstStyle/>
          <a:p>
            <a:pPr algn="ctr" indent="0" marL="0">
              <a:buNone/>
            </a:pPr>
            <a:r>
              <a:rPr lang="en-US" sz="1100" b="1" dirty="0">
                <a:solidFill>
                  <a:srgbClr val="424242"/>
                </a:solidFill>
                <a:latin typeface="Arial" pitchFamily="34" charset="0"/>
                <a:ea typeface="Arial" pitchFamily="34" charset="-122"/>
                <a:cs typeface="Arial" pitchFamily="34" charset="-120"/>
              </a:rPr>
              <a:t>Our School</a:t>
            </a:r>
            <a:endParaRPr lang="en-US" sz="1100" dirty="0"/>
          </a:p>
        </p:txBody>
      </p:sp>
      <p:sp>
        <p:nvSpPr>
          <p:cNvPr id="9" name="Shape 7"/>
          <p:cNvSpPr/>
          <p:nvPr/>
        </p:nvSpPr>
        <p:spPr>
          <a:xfrm>
            <a:off x="1920240" y="1600200"/>
            <a:ext cx="1600200" cy="1188720"/>
          </a:xfrm>
          <a:prstGeom prst="roundRect">
            <a:avLst>
              <a:gd name="adj" fmla="val 13846"/>
            </a:avLst>
          </a:prstGeom>
          <a:solidFill>
            <a:srgbClr val="FFFDE7"/>
          </a:solidFill>
          <a:ln w="25400">
            <a:solidFill>
              <a:srgbClr val="FDD835"/>
            </a:solidFill>
            <a:prstDash val="solid"/>
          </a:ln>
        </p:spPr>
      </p:sp>
      <p:sp>
        <p:nvSpPr>
          <p:cNvPr id="10" name="Text 8"/>
          <p:cNvSpPr/>
          <p:nvPr/>
        </p:nvSpPr>
        <p:spPr>
          <a:xfrm>
            <a:off x="1920240" y="1645920"/>
            <a:ext cx="160020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1920240" y="2377440"/>
            <a:ext cx="1600200" cy="347472"/>
          </a:xfrm>
          <a:prstGeom prst="rect">
            <a:avLst/>
          </a:prstGeom>
          <a:noFill/>
          <a:ln/>
        </p:spPr>
        <p:txBody>
          <a:bodyPr wrap="square" rtlCol="0" anchor="ctr"/>
          <a:lstStyle/>
          <a:p>
            <a:pPr algn="ctr" indent="0" marL="0">
              <a:buNone/>
            </a:pPr>
            <a:r>
              <a:rPr lang="en-US" sz="1100" b="1" dirty="0">
                <a:solidFill>
                  <a:srgbClr val="424242"/>
                </a:solidFill>
                <a:latin typeface="Arial" pitchFamily="34" charset="0"/>
                <a:ea typeface="Arial" pitchFamily="34" charset="-122"/>
                <a:cs typeface="Arial" pitchFamily="34" charset="-120"/>
              </a:rPr>
              <a:t>Solar Energy</a:t>
            </a:r>
            <a:endParaRPr lang="en-US" sz="1100" dirty="0"/>
          </a:p>
        </p:txBody>
      </p:sp>
      <p:sp>
        <p:nvSpPr>
          <p:cNvPr id="12" name="Shape 10"/>
          <p:cNvSpPr/>
          <p:nvPr/>
        </p:nvSpPr>
        <p:spPr>
          <a:xfrm>
            <a:off x="228600" y="2926080"/>
            <a:ext cx="1600200" cy="1188720"/>
          </a:xfrm>
          <a:prstGeom prst="roundRect">
            <a:avLst>
              <a:gd name="adj" fmla="val 13846"/>
            </a:avLst>
          </a:prstGeom>
          <a:solidFill>
            <a:srgbClr val="E8F5E9"/>
          </a:solidFill>
          <a:ln w="25400">
            <a:solidFill>
              <a:srgbClr val="66BB6A"/>
            </a:solidFill>
            <a:prstDash val="solid"/>
          </a:ln>
        </p:spPr>
      </p:sp>
      <p:sp>
        <p:nvSpPr>
          <p:cNvPr id="13" name="Text 11"/>
          <p:cNvSpPr/>
          <p:nvPr/>
        </p:nvSpPr>
        <p:spPr>
          <a:xfrm>
            <a:off x="228600" y="2971800"/>
            <a:ext cx="160020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228600" y="3703320"/>
            <a:ext cx="1600200" cy="347472"/>
          </a:xfrm>
          <a:prstGeom prst="rect">
            <a:avLst/>
          </a:prstGeom>
          <a:noFill/>
          <a:ln/>
        </p:spPr>
        <p:txBody>
          <a:bodyPr wrap="square" rtlCol="0" anchor="ctr"/>
          <a:lstStyle/>
          <a:p>
            <a:pPr algn="ctr" indent="0" marL="0">
              <a:buNone/>
            </a:pPr>
            <a:r>
              <a:rPr lang="en-US" sz="1100" b="1" dirty="0">
                <a:solidFill>
                  <a:srgbClr val="424242"/>
                </a:solidFill>
                <a:latin typeface="Arial" pitchFamily="34" charset="0"/>
                <a:ea typeface="Arial" pitchFamily="34" charset="-122"/>
                <a:cs typeface="Arial" pitchFamily="34" charset="-120"/>
              </a:rPr>
              <a:t>Saves Money</a:t>
            </a:r>
            <a:endParaRPr lang="en-US" sz="1100" dirty="0"/>
          </a:p>
        </p:txBody>
      </p:sp>
      <p:sp>
        <p:nvSpPr>
          <p:cNvPr id="15" name="Shape 13"/>
          <p:cNvSpPr/>
          <p:nvPr/>
        </p:nvSpPr>
        <p:spPr>
          <a:xfrm>
            <a:off x="1920240" y="2926080"/>
            <a:ext cx="1600200" cy="1188720"/>
          </a:xfrm>
          <a:prstGeom prst="roundRect">
            <a:avLst>
              <a:gd name="adj" fmla="val 13846"/>
            </a:avLst>
          </a:prstGeom>
          <a:solidFill>
            <a:srgbClr val="F3E5F5"/>
          </a:solidFill>
          <a:ln w="25400">
            <a:solidFill>
              <a:srgbClr val="AB47BC"/>
            </a:solidFill>
            <a:prstDash val="solid"/>
          </a:ln>
        </p:spPr>
      </p:sp>
      <p:sp>
        <p:nvSpPr>
          <p:cNvPr id="16" name="Text 14"/>
          <p:cNvSpPr/>
          <p:nvPr/>
        </p:nvSpPr>
        <p:spPr>
          <a:xfrm>
            <a:off x="1920240" y="2971800"/>
            <a:ext cx="160020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920240" y="3703320"/>
            <a:ext cx="1600200" cy="347472"/>
          </a:xfrm>
          <a:prstGeom prst="rect">
            <a:avLst/>
          </a:prstGeom>
          <a:noFill/>
          <a:ln/>
        </p:spPr>
        <p:txBody>
          <a:bodyPr wrap="square" rtlCol="0" anchor="ctr"/>
          <a:lstStyle/>
          <a:p>
            <a:pPr algn="ctr" indent="0" marL="0">
              <a:buNone/>
            </a:pPr>
            <a:r>
              <a:rPr lang="en-US" sz="1100" b="1" dirty="0">
                <a:solidFill>
                  <a:srgbClr val="424242"/>
                </a:solidFill>
                <a:latin typeface="Arial" pitchFamily="34" charset="0"/>
                <a:ea typeface="Arial" pitchFamily="34" charset="-122"/>
                <a:cs typeface="Arial" pitchFamily="34" charset="-120"/>
              </a:rPr>
              <a:t>Happy Earth</a:t>
            </a:r>
            <a:endParaRPr lang="en-US" sz="1100" dirty="0"/>
          </a:p>
        </p:txBody>
      </p:sp>
      <p:sp>
        <p:nvSpPr>
          <p:cNvPr id="18" name="Shape 16"/>
          <p:cNvSpPr/>
          <p:nvPr/>
        </p:nvSpPr>
        <p:spPr>
          <a:xfrm>
            <a:off x="228600" y="4206240"/>
            <a:ext cx="3291840" cy="411480"/>
          </a:xfrm>
          <a:prstGeom prst="rect">
            <a:avLst/>
          </a:prstGeom>
          <a:solidFill>
            <a:srgbClr val="1565C0"/>
          </a:solidFill>
          <a:ln w="12700">
            <a:solidFill>
              <a:srgbClr val="0D47A1"/>
            </a:solidFill>
            <a:prstDash val="solid"/>
          </a:ln>
        </p:spPr>
      </p:sp>
      <p:sp>
        <p:nvSpPr>
          <p:cNvPr id="19" name="Text 17"/>
          <p:cNvSpPr/>
          <p:nvPr/>
        </p:nvSpPr>
        <p:spPr>
          <a:xfrm>
            <a:off x="228600" y="4206240"/>
            <a:ext cx="329184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Solar Panels on Rooftop</a:t>
            </a:r>
            <a:endParaRPr lang="en-US" sz="1100" dirty="0"/>
          </a:p>
        </p:txBody>
      </p:sp>
      <p:sp>
        <p:nvSpPr>
          <p:cNvPr id="20" name="Shape 18"/>
          <p:cNvSpPr/>
          <p:nvPr/>
        </p:nvSpPr>
        <p:spPr>
          <a:xfrm>
            <a:off x="3703320" y="868680"/>
            <a:ext cx="5212080" cy="3246120"/>
          </a:xfrm>
          <a:prstGeom prst="roundRect">
            <a:avLst>
              <a:gd name="adj" fmla="val 5634"/>
            </a:avLst>
          </a:prstGeom>
          <a:solidFill>
            <a:srgbClr val="FFFFFF"/>
          </a:solidFill>
          <a:ln w="38100">
            <a:solidFill>
              <a:srgbClr val="FDD835"/>
            </a:solidFill>
            <a:prstDash val="solid"/>
          </a:ln>
        </p:spPr>
      </p:sp>
      <p:sp>
        <p:nvSpPr>
          <p:cNvPr id="21" name="Shape 19"/>
          <p:cNvSpPr/>
          <p:nvPr/>
        </p:nvSpPr>
        <p:spPr>
          <a:xfrm>
            <a:off x="3840480" y="1417320"/>
            <a:ext cx="4937760" cy="0"/>
          </a:xfrm>
          <a:prstGeom prst="line">
            <a:avLst/>
          </a:prstGeom>
          <a:noFill/>
          <a:ln w="12700">
            <a:solidFill>
              <a:srgbClr val="E0E0E0"/>
            </a:solidFill>
            <a:prstDash val="solid"/>
          </a:ln>
        </p:spPr>
      </p:sp>
      <p:sp>
        <p:nvSpPr>
          <p:cNvPr id="22" name="Shape 20"/>
          <p:cNvSpPr/>
          <p:nvPr/>
        </p:nvSpPr>
        <p:spPr>
          <a:xfrm>
            <a:off x="3840480" y="2011680"/>
            <a:ext cx="4937760" cy="0"/>
          </a:xfrm>
          <a:prstGeom prst="line">
            <a:avLst/>
          </a:prstGeom>
          <a:noFill/>
          <a:ln w="12700">
            <a:solidFill>
              <a:srgbClr val="E0E0E0"/>
            </a:solidFill>
            <a:prstDash val="solid"/>
          </a:ln>
        </p:spPr>
      </p:sp>
      <p:sp>
        <p:nvSpPr>
          <p:cNvPr id="23" name="Shape 21"/>
          <p:cNvSpPr/>
          <p:nvPr/>
        </p:nvSpPr>
        <p:spPr>
          <a:xfrm>
            <a:off x="3840480" y="2606040"/>
            <a:ext cx="4937760" cy="0"/>
          </a:xfrm>
          <a:prstGeom prst="line">
            <a:avLst/>
          </a:prstGeom>
          <a:noFill/>
          <a:ln w="12700">
            <a:solidFill>
              <a:srgbClr val="E0E0E0"/>
            </a:solidFill>
            <a:prstDash val="solid"/>
          </a:ln>
        </p:spPr>
      </p:sp>
      <p:sp>
        <p:nvSpPr>
          <p:cNvPr id="24" name="Shape 22"/>
          <p:cNvSpPr/>
          <p:nvPr/>
        </p:nvSpPr>
        <p:spPr>
          <a:xfrm>
            <a:off x="3840480" y="3200400"/>
            <a:ext cx="4937760" cy="0"/>
          </a:xfrm>
          <a:prstGeom prst="line">
            <a:avLst/>
          </a:prstGeom>
          <a:noFill/>
          <a:ln w="12700">
            <a:solidFill>
              <a:srgbClr val="E0E0E0"/>
            </a:solidFill>
            <a:prstDash val="solid"/>
          </a:ln>
        </p:spPr>
      </p:sp>
      <p:sp>
        <p:nvSpPr>
          <p:cNvPr id="25" name="Text 23"/>
          <p:cNvSpPr/>
          <p:nvPr/>
        </p:nvSpPr>
        <p:spPr>
          <a:xfrm>
            <a:off x="3840480" y="914400"/>
            <a:ext cx="4846320" cy="365760"/>
          </a:xfrm>
          <a:prstGeom prst="rect">
            <a:avLst/>
          </a:prstGeom>
          <a:noFill/>
          <a:ln/>
        </p:spPr>
        <p:txBody>
          <a:bodyPr wrap="square" rtlCol="0" anchor="ctr"/>
          <a:lstStyle/>
          <a:p>
            <a:pPr algn="l" indent="0" marL="0">
              <a:buNone/>
            </a:pPr>
            <a:r>
              <a:rPr lang="en-US" sz="1400" b="1" dirty="0">
                <a:solidFill>
                  <a:srgbClr val="E65100"/>
                </a:solidFill>
                <a:latin typeface="Arial" pitchFamily="34" charset="0"/>
                <a:ea typeface="Arial" pitchFamily="34" charset="-122"/>
                <a:cs typeface="Arial" pitchFamily="34" charset="-120"/>
              </a:rPr>
              <a:t>✏️  My Answer:</a:t>
            </a:r>
            <a:endParaRPr lang="en-US" sz="1400" dirty="0"/>
          </a:p>
        </p:txBody>
      </p:sp>
      <p:sp>
        <p:nvSpPr>
          <p:cNvPr id="26" name="Text 24"/>
          <p:cNvSpPr/>
          <p:nvPr/>
        </p:nvSpPr>
        <p:spPr>
          <a:xfrm>
            <a:off x="3840480" y="1325880"/>
            <a:ext cx="4937760" cy="2651760"/>
          </a:xfrm>
          <a:prstGeom prst="rect">
            <a:avLst/>
          </a:prstGeom>
          <a:noFill/>
          <a:ln/>
        </p:spPr>
        <p:txBody>
          <a:bodyPr wrap="square" rtlCol="0" anchor="t"/>
          <a:lstStyle/>
          <a:p>
            <a:pPr algn="l" indent="0" marL="0">
              <a:spcAft>
                <a:spcPts val="400"/>
              </a:spcAft>
              <a:buNone/>
            </a:pPr>
            <a:r>
              <a:rPr lang="en-US" sz="1300" dirty="0">
                <a:solidFill>
                  <a:srgbClr val="212121"/>
                </a:solidFill>
                <a:latin typeface="Arial" pitchFamily="34" charset="0"/>
                <a:ea typeface="Arial" pitchFamily="34" charset="-122"/>
                <a:cs typeface="Arial" pitchFamily="34" charset="-120"/>
              </a:rPr>
              <a:t>I think solar energy is the best renewable energy source for our school to use. Solar panels can be placed on the school rooftop to collect sunlight and generate electricity. It is clean, quiet, and saves money on electricity bills. Hong Kong has plenty of sunshine, so it is a very smart and practical choice for our school.</a:t>
            </a:r>
            <a:endParaRPr lang="en-US" sz="1300" dirty="0"/>
          </a:p>
        </p:txBody>
      </p:sp>
      <p:sp>
        <p:nvSpPr>
          <p:cNvPr id="27" name="Shape 25"/>
          <p:cNvSpPr/>
          <p:nvPr/>
        </p:nvSpPr>
        <p:spPr>
          <a:xfrm>
            <a:off x="3703320" y="4206240"/>
            <a:ext cx="2286000" cy="411480"/>
          </a:xfrm>
          <a:prstGeom prst="roundRect">
            <a:avLst>
              <a:gd name="adj" fmla="val 33333"/>
            </a:avLst>
          </a:prstGeom>
          <a:solidFill>
            <a:srgbClr val="4CAF50"/>
          </a:solidFill>
          <a:ln w="12700">
            <a:solidFill>
              <a:srgbClr val="388E3C"/>
            </a:solidFill>
            <a:prstDash val="solid"/>
          </a:ln>
        </p:spPr>
      </p:sp>
      <p:sp>
        <p:nvSpPr>
          <p:cNvPr id="28" name="Text 26"/>
          <p:cNvSpPr/>
          <p:nvPr/>
        </p:nvSpPr>
        <p:spPr>
          <a:xfrm>
            <a:off x="3703320" y="4206240"/>
            <a:ext cx="228600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Word count: ~60 words  ✅</a:t>
            </a:r>
            <a:endParaRPr lang="en-US" sz="1100" dirty="0"/>
          </a:p>
        </p:txBody>
      </p:sp>
      <p:sp>
        <p:nvSpPr>
          <p:cNvPr id="29" name="Text 27"/>
          <p:cNvSpPr/>
          <p:nvPr/>
        </p:nvSpPr>
        <p:spPr>
          <a:xfrm>
            <a:off x="6217920" y="4206240"/>
            <a:ext cx="2743200" cy="411480"/>
          </a:xfrm>
          <a:prstGeom prst="rect">
            <a:avLst/>
          </a:prstGeom>
          <a:noFill/>
          <a:ln/>
        </p:spPr>
        <p:txBody>
          <a:bodyPr wrap="square" rtlCol="0" anchor="ctr"/>
          <a:lstStyle/>
          <a:p>
            <a:pPr algn="ctr" indent="0" marL="0">
              <a:buNone/>
            </a:pPr>
            <a:r>
              <a:rPr lang="en-US" sz="1800" dirty="0">
                <a:solidFill>
                  <a:srgbClr val="000000"/>
                </a:solidFill>
              </a:rPr>
              <a:t>🌞  🏫  💡  🌱  ♻️</a:t>
            </a:r>
            <a:endParaRPr lang="en-US" sz="1800" dirty="0"/>
          </a:p>
        </p:txBody>
      </p:sp>
      <p:sp>
        <p:nvSpPr>
          <p:cNvPr id="30" name="Shape 28"/>
          <p:cNvSpPr/>
          <p:nvPr/>
        </p:nvSpPr>
        <p:spPr>
          <a:xfrm>
            <a:off x="8503920" y="4663440"/>
            <a:ext cx="365760" cy="365760"/>
          </a:xfrm>
          <a:prstGeom prst="ellipse">
            <a:avLst/>
          </a:prstGeom>
          <a:solidFill>
            <a:srgbClr val="0277BD"/>
          </a:solidFill>
          <a:ln w="12700">
            <a:solidFill>
              <a:srgbClr val="0277BD"/>
            </a:solidFill>
            <a:prstDash val="solid"/>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Electricity Scrapbook - Unit 10</dc:title>
  <dc:subject>Renewable &amp; Non-Renewable Energy</dc:subject>
  <dc:creator>Primary School Student</dc:creator>
  <cp:lastModifiedBy>Primary School Student</cp:lastModifiedBy>
  <cp:revision>1</cp:revision>
  <dcterms:created xsi:type="dcterms:W3CDTF">2026-04-03T13:09:06Z</dcterms:created>
  <dcterms:modified xsi:type="dcterms:W3CDTF">2026-04-03T13:09:06Z</dcterms:modified>
</cp:coreProperties>
</file>